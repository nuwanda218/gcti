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2"/>
  </p:notesMasterIdLst>
  <p:sldIdLst>
    <p:sldId id="256" r:id="rId3"/>
    <p:sldId id="257" r:id="rId4"/>
    <p:sldId id="258" r:id="rId5"/>
    <p:sldId id="274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84" autoAdjust="0"/>
    <p:restoredTop sz="95168" autoAdjust="0"/>
  </p:normalViewPr>
  <p:slideViewPr>
    <p:cSldViewPr snapToGrid="0">
      <p:cViewPr varScale="1">
        <p:scale>
          <a:sx n="102" d="100"/>
          <a:sy n="102" d="100"/>
        </p:scale>
        <p:origin x="176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26.05.2026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我们小组的汇报。今天，我们想聊一个非常贴近我们生活的话题——“苦难娱乐化”。你是否也曾在网上“发疯”，用段子和表情包来消解生活的压力？今天，就让我们一起深入探讨，当“发疯”成为我们的日常，这究竟是解药，还是麻药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在正式开始之前，我们先来轻松一下，感受一下这些熟悉的“发疯文学”。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“早上励志拿奖学金，中午怀疑人生意义，晚上被论文、考试、小组作业逼到想毁灭”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是不是像极了我们的期末日常？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还有和被窝的“牢不可破的战略合作”，早八主打一个“图一乐”，大脑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烧干了还得强行运转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这些段子，是不是让你会心一笑，甚至觉得“这就是我”？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笑完之后，我们有没有想过一个问题：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我们为什么需要把这些破事编成笑话？</a:t>
            </a:r>
            <a:endParaRPr lang="zh-CN" altLang="en-US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为什么“发疯”成了我们这代大学生最通用的社交货币？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左边这张图，相信在座的每一位都不陌生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凌晨两点的宿舍，台灯是唯一的亮光。面前是翻不完的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、背不完的重点，咖啡喝到心慌，脑子已经彻底转不动了。明天就要考试，但感觉什么都没记住。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这种时刻，你会怎么表达？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看看右边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很多人会发一条朋友圈或者微博，写的是：</a:t>
            </a:r>
            <a:b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“当我尝试只用</a:t>
            </a:r>
            <a:r>
              <a:rPr lang="en-US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天时间，把整个学期的知识塞到脑子里时</a:t>
            </a:r>
            <a:r>
              <a:rPr lang="en-US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……”</a:t>
            </a:r>
            <a:endParaRPr lang="zh-CN" altLang="en-US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后面不用说完，大家就都懂了。配上一张熊猫头或者裂开的表情包，这条动态就能收获一堆“我也是”的评论。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这就是我们说的：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苦难，被做成了表情包。</a:t>
            </a:r>
            <a:endParaRPr lang="zh-CN" altLang="en-US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你看，同样的痛苦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复习不完、焦虑爆棚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一旦用这种夸张、自嘲的方式说出来，它好像就没那么沉重了，甚至有点好笑。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为什么？因为下面这两行字其实揭示了真相：</a:t>
            </a:r>
          </a:p>
          <a:p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压抑与沉重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：这些负面情绪，在现实中没法直接宣泄。你总不能对着室友大喊“我要疯了”，也不能在考场上哭出来。</a:t>
            </a:r>
          </a:p>
          <a:p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解构与娱乐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：但是把它包装成一个段子、一个表情包，你就可以安全地释放压力，还能在集体自嘲中找到同类。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所以，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“发疯”不是真的疯，是我们给情绪找的一个出口。</a:t>
            </a:r>
            <a:endParaRPr lang="zh-CN" altLang="en-US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B38DC-12B6-205B-7C46-5BBB537CE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1A812D8-C94A-C452-EEDF-B99B1E6F9A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1C4A83-65DE-C142-9F9C-E93B3061DFF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1490ECA-603D-C1B6-E1CE-852D20B8AD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A0805BB-A046-5AFA-B41B-B5AA50917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左边这张图，相信在座的每一位都不陌生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凌晨两点的宿舍，台灯是唯一的亮光。面前是翻不完的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PPT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、背不完的重点，咖啡喝到心慌，脑子已经彻底转不动了。明天就要考试，但感觉什么都没记住。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这种时刻，你会怎么表达？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看看右边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很多人会发一条朋友圈或者微博，写的是：</a:t>
            </a:r>
            <a:b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“当我尝试只用</a:t>
            </a:r>
            <a:r>
              <a:rPr lang="en-US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天时间，把整个学期的知识塞到脑子里时</a:t>
            </a:r>
            <a:r>
              <a:rPr lang="en-US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……”</a:t>
            </a:r>
            <a:endParaRPr lang="zh-CN" altLang="en-US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后面不用说完，大家就都懂了。配上一张熊猫头或者裂开的表情包，这条动态就能收获一堆“我也是”的评论。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这就是我们说的：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苦难，被做成了表情包。</a:t>
            </a:r>
            <a:endParaRPr lang="zh-CN" altLang="en-US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你看，同样的痛苦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复习不完、焦虑爆棚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一旦用这种夸张、自嘲的方式说出来，它好像就没那么沉重了，甚至有点好笑。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为什么？因为下面这两行字其实揭示了真相：</a:t>
            </a:r>
          </a:p>
          <a:p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压抑与沉重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：这些负面情绪，在现实中没法直接宣泄。你总不能对着室友大喊“我要疯了”，也不能在考场上哭出来。</a:t>
            </a:r>
          </a:p>
          <a:p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解构与娱乐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：但是把它包装成一个段子、一个表情包，你就可以安全地释放压力，还能在集体自嘲中找到同类。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所以，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“发疯”不是真的疯，是我们给情绪找的一个出口。</a:t>
            </a:r>
            <a:endParaRPr lang="zh-CN" altLang="en-US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61A651-C799-B2BC-CB99-445A98F1179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F1B1F-7DEB-32E7-83A5-B7E60E8901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7471374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好，刚才我们看到，期末周的崩溃被做成了“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3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天学完一学期”这种段子。这种把痛苦变成梗的现象，其实有一个专门的概念，叫做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“苦难娱乐化”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什么是苦难娱乐化？简单说就是：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我们把生活中那些破事</a:t>
            </a:r>
            <a:r>
              <a:rPr lang="en-US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焦虑、压力、无力感</a:t>
            </a:r>
            <a:r>
              <a:rPr lang="en-US" altLang="zh-CN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用夸张、自嘲、好玩的包装重新表达出来。</a:t>
            </a:r>
            <a:endParaRPr lang="zh-CN" altLang="en-US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它的本质是什么？注意看这个词</a:t>
            </a:r>
            <a:r>
              <a:rPr lang="en-US" altLang="zh-CN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——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不是消除苦难，而是改变我们和苦难的相处方式。</a:t>
            </a:r>
            <a:endParaRPr lang="zh-CN" altLang="en-US" sz="14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就像这张图说的：给流血的伤口贴一个笑脸创可贴。伤口还在，疼痛还在，但你看着那个笑脸，好像就没那么难受了，甚至觉得自己还能再撑一下。</a:t>
            </a:r>
          </a:p>
          <a:p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这就是苦难娱乐化的核心：</a:t>
            </a:r>
            <a:r>
              <a:rPr lang="zh-CN" altLang="en-US" sz="14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用笑声，给痛苦降维。</a:t>
            </a:r>
            <a:r>
              <a:rPr lang="zh-CN" altLang="en-U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把压得你喘不过气的东西，变成一个你可以发出去、可以被点赞的表情包。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苦难娱乐化，就像一把锋利的双刃剑。一方面，它是我们的“解药”，帮助我们释放压力，找到共鸣，甚至进行一些温和的反抗。但另一方面，它也可能是一剂“麻药”，让我们在笑声中变得麻木，忘记了疼痛的根源，也忘记了去改变。今天，我们就将深入探讨这把双刃剑的两面，看看我们该如何在“解药”与“麻药”之间找到平衡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看它积极的一面。在这个充满压力的时代，“发疯”不再是一个贬义词，而是一种生存智慧。它为我们提供了宝贵的心理资源，帮助我们应对生活的挑战。接下来，我们将从四个方面来解读它作为“解药”的积极作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好处，就是“情绪安全阀”。我们每个人心里都像有一个高压锅，社会要求我们“情绪稳定”，压力只能不断积累。而网络，就给了我们一个安全的开口。我们可以在网上尽情“发疯”，释放那些被压抑的情绪，而且成本极低，效果立竿见影。这就像是给高压锅开了个口，避免了它爆炸的风险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好处，是“集体共情”。当你深夜加班感到孤独时，看到网上无数人都在分享“加班狗”的段子，那种孤独感瞬间就被稀释了。我们找到了“嘴替”，找到了组织，强烈地感受到“原来你也在这里”。这种被理解、被接纳的感觉，本身就具有强大的治愈效果，它告诉我们，我们并不孤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好处，是“微小反抗”。面对不合理的加班、荒谬的规定，直接对抗成本太高。但“发疯文学”给了我们另一种武器——幽默。当老板让你加班，你回一句“收到，我这就去给公司卖命（物理）”，这就是用荒诞回应荒诞。它没有直接说“不”，但拒绝和嘲讽的意味却清晰可见。这是一种温和而有效的反抗，让我们夺回了一丝宝贵的话语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好处，是“主体性重塑”。过去，我们说“我被生活逼疯了”，感觉自己是被动的受害者。但现在，我们说“我先疯为敬”，这是一种主动的宣告。我们不再被情绪控制，而是学会了与情绪共舞，甚至把伤痛变成创作的素材。主动认领“疯”这个标签，其实是我们在重新掌控自己情绪的定义权，这是一种心理上的成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我们谈了这么多“发疯”的好处。但是，笑完之后呢？止痛药能缓解疼痛，但如果我们只依赖止痛药，而不去治疗病根，会怎么样？我们的伤口，可能会在笑声中，悄悄地化脓、溃烂。接下来，我们就要谈谈这把双刃剑的另一面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欢迎来到第二篇章。当“发疯”从一种偶尔的宣泄，变成一种习惯性的姿态；当所有的痛苦都能被一个表情包轻易打发，我们可能正在滑向一个危险的境地。接下来，我们将探讨苦难娱乐化作为“麻药”的四个潜在危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一个危害，是“情绪麻痹”。当工作不顺心，我们发个“我裂开了”；感情受挫，发个“小丑竟是我自己”。无论多复杂的情绪，都被一个表情包打发了。久而久之，我们会失去深度思考的能力，从“笑对苦难”滑向“对苦难无感”，变成一个情感上的“低敏人群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二个危害，是“认同内化”。我们陷入了一个“被压榨-发疯-缓解-再被压榨”的恶性循环。“发疯”带来的快感，就像一剂麻药，让我们感觉好受一点，然后继续回到那个糟糕的环境里。久而久之，我们可能就从反抗变成了顺从，默认了“生活就是这样”，放弃了去改变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危害，是“消解公共性”。“嘴替”让我们感到被理解，但“被理解”不等于“被解决”。当我们把所有的集体能量都用在自嘲和共情上，而不是去追问和行动，那么真正的改变就不会发生。更可怕的是，过度的娱乐化会溶解掉我们内心本应有的愤怒，而愤怒，恰恰是推动变革的燃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四个危害，也是最令人警惕的，是“被收编的风险”。我们的痛苦，正在被资本和平台当作生意来做。品牌用“发疯营销”来讨好你，让你在共鸣中掏钱；平台用算法给你制造焦虑，再给你提供“解药”，让你沉迷其中。最终我们发现，连我们“发疯”的方式，都可能是被设计好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那么，我们该怎么办？答案是：清醒地“疯”。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首先，我们不必对“发疯”感到内疚，它确实是有效的解药，我们应该善用它来缓解压力。在情绪崩溃的边缘，给自己一个心理按摩，享受那片刻的共情与轻松，这是我们应得的。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但同时，我们必须保持清醒。要明白笑声不是终点，“发疯”只是止痛的第一步，它不是用来麻痹我们的，而是给我们喘息的空间，去积蓄力量，去探寻痛苦的根源，去面对和解决那个真正的问题。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总结来说，苦难娱乐化是一种很好的自我保护，但不要让它成为你唯一的避难所。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想说，发疯文学，是我们在风雨飘摇的生活中，为自己撑起的一把小小的伞。它能为我们遮风挡雨，但我们心中要始终明白，雨停之后，记得去修屋顶。愿我们每一个人，都既有随时“发疯”的自由，更有最终能够“不疯”的能力——有能力去创造一个不再需要靠“发疯”来对抗的生活。我的汇报到此结束，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2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1315" b="1315"/>
          <a:stretch>
            <a:fillRect/>
          </a:stretch>
        </p:blipFill>
        <p:spPr>
          <a:xfrm>
            <a:off x="-279400" y="2159000"/>
            <a:ext cx="4826000" cy="469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3729973" y="920750"/>
            <a:ext cx="68453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8800" b="1" i="0" u="none" strike="noStrike" dirty="0" err="1">
                <a:solidFill>
                  <a:srgbClr val="BD8B5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苦难娱乐化</a:t>
            </a:r>
            <a:endParaRPr lang="en-US" sz="1200" dirty="0"/>
          </a:p>
        </p:txBody>
      </p:sp>
      <p:sp>
        <p:nvSpPr>
          <p:cNvPr id="4" name="AutoShape 4"/>
          <p:cNvSpPr/>
          <p:nvPr/>
        </p:nvSpPr>
        <p:spPr>
          <a:xfrm>
            <a:off x="3803563" y="2444750"/>
            <a:ext cx="81661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6000" b="1" i="0" u="none" strike="noStrike" dirty="0" err="1">
                <a:solidFill>
                  <a:srgbClr val="000000"/>
                </a:solidFill>
                <a:latin typeface="可爱版显眼包来噜"/>
                <a:ea typeface="可爱版显眼包来噜"/>
                <a:cs typeface="可爱版显眼包来噜"/>
                <a:sym typeface="可爱版显眼包来噜"/>
              </a:rPr>
              <a:t>当“发疯”成为我们的日常</a:t>
            </a:r>
            <a:endParaRPr lang="en-US" sz="1050" dirty="0"/>
          </a:p>
        </p:txBody>
      </p:sp>
      <p:sp>
        <p:nvSpPr>
          <p:cNvPr id="5" name="AutoShape 5"/>
          <p:cNvSpPr/>
          <p:nvPr/>
        </p:nvSpPr>
        <p:spPr>
          <a:xfrm>
            <a:off x="5201607" y="4356100"/>
            <a:ext cx="2365679" cy="419100"/>
          </a:xfrm>
          <a:prstGeom prst="roundRect">
            <a:avLst>
              <a:gd name="adj" fmla="val 15151"/>
            </a:avLst>
          </a:prstGeom>
          <a:solidFill>
            <a:srgbClr val="BD8B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汇报团队：第</a:t>
            </a:r>
            <a:r>
              <a:rPr lang="zh-CN" altLang="en-US" sz="18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十</a:t>
            </a:r>
            <a:r>
              <a:rPr lang="en-US" sz="1800" b="0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二组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8064500" y="4356100"/>
            <a:ext cx="2909866" cy="419100"/>
          </a:xfrm>
          <a:prstGeom prst="roundRect">
            <a:avLst>
              <a:gd name="adj" fmla="val 15151"/>
            </a:avLst>
          </a:prstGeom>
          <a:solidFill>
            <a:srgbClr val="BD8B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汇报时间：</a:t>
            </a:r>
            <a:r>
              <a:rPr lang="en-US" sz="180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zh-CN" altLang="en-US" sz="180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年</a:t>
            </a:r>
            <a:r>
              <a:rPr lang="en-US" altLang="zh-CN" sz="180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zh-CN" altLang="en-US" sz="180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月</a:t>
            </a:r>
            <a:r>
              <a:rPr lang="en-US" altLang="zh-CN" sz="180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zh-CN" altLang="en-US" sz="1800" b="0" i="0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日</a:t>
            </a:r>
            <a:endParaRPr lang="en-US" sz="1100" dirty="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4450" b="4450"/>
          <a:stretch>
            <a:fillRect/>
          </a:stretch>
        </p:blipFill>
        <p:spPr>
          <a:xfrm>
            <a:off x="3606800" y="4813300"/>
            <a:ext cx="2425700" cy="2209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t="3591" b="3591"/>
          <a:stretch>
            <a:fillRect/>
          </a:stretch>
        </p:blipFill>
        <p:spPr>
          <a:xfrm>
            <a:off x="5765800" y="4889500"/>
            <a:ext cx="2298700" cy="2133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t="2542" b="2542"/>
          <a:stretch>
            <a:fillRect/>
          </a:stretch>
        </p:blipFill>
        <p:spPr>
          <a:xfrm>
            <a:off x="7810500" y="4889500"/>
            <a:ext cx="2247900" cy="2133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t="2808" b="2808"/>
          <a:stretch>
            <a:fillRect/>
          </a:stretch>
        </p:blipFill>
        <p:spPr>
          <a:xfrm>
            <a:off x="9842500" y="4889500"/>
            <a:ext cx="2260600" cy="2133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285750" y="234950"/>
            <a:ext cx="7937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8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到我们小组来汇报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PPT</a:t>
            </a:r>
            <a:r>
              <a:rPr lang="en-US" sz="2800" b="1" i="0" u="none" strike="noStrike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了</a:t>
            </a:r>
            <a:r>
              <a:rPr lang="en-US" sz="2800" b="1" i="0" u="none" strike="noStrike" dirty="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？？！！！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20046" y="629629"/>
            <a:ext cx="341206" cy="348442"/>
          </a:xfrm>
          <a:custGeom>
            <a:avLst/>
            <a:gdLst/>
            <a:ahLst/>
            <a:cxnLst/>
            <a:rect l="l" t="t" r="r" b="b"/>
            <a:pathLst>
              <a:path w="341206" h="348442">
                <a:moveTo>
                  <a:pt x="170311" y="0"/>
                </a:moveTo>
                <a:cubicBezTo>
                  <a:pt x="76407" y="0"/>
                  <a:pt x="0" y="78028"/>
                  <a:pt x="0" y="174518"/>
                </a:cubicBezTo>
                <a:cubicBezTo>
                  <a:pt x="0" y="270415"/>
                  <a:pt x="76407" y="348442"/>
                  <a:pt x="170311" y="348442"/>
                </a:cubicBezTo>
                <a:cubicBezTo>
                  <a:pt x="264799" y="348442"/>
                  <a:pt x="340623" y="270415"/>
                  <a:pt x="340623" y="174518"/>
                </a:cubicBezTo>
                <a:cubicBezTo>
                  <a:pt x="341206" y="78028"/>
                  <a:pt x="264799" y="0"/>
                  <a:pt x="170311" y="0"/>
                </a:cubicBezTo>
                <a:close/>
                <a:moveTo>
                  <a:pt x="235636" y="179283"/>
                </a:moveTo>
                <a:cubicBezTo>
                  <a:pt x="223388" y="192387"/>
                  <a:pt x="223388" y="192387"/>
                  <a:pt x="223388" y="192387"/>
                </a:cubicBezTo>
                <a:cubicBezTo>
                  <a:pt x="153397" y="263863"/>
                  <a:pt x="153397" y="263863"/>
                  <a:pt x="153397" y="263863"/>
                </a:cubicBezTo>
                <a:cubicBezTo>
                  <a:pt x="150481" y="266841"/>
                  <a:pt x="145815" y="266841"/>
                  <a:pt x="142898" y="263863"/>
                </a:cubicBezTo>
                <a:cubicBezTo>
                  <a:pt x="130650" y="251355"/>
                  <a:pt x="130650" y="251355"/>
                  <a:pt x="130650" y="251355"/>
                </a:cubicBezTo>
                <a:cubicBezTo>
                  <a:pt x="127734" y="248376"/>
                  <a:pt x="127734" y="243611"/>
                  <a:pt x="130650" y="240633"/>
                </a:cubicBezTo>
                <a:cubicBezTo>
                  <a:pt x="195392" y="174518"/>
                  <a:pt x="195392" y="174518"/>
                  <a:pt x="195392" y="174518"/>
                </a:cubicBezTo>
                <a:cubicBezTo>
                  <a:pt x="130650" y="107809"/>
                  <a:pt x="130650" y="107809"/>
                  <a:pt x="130650" y="107809"/>
                </a:cubicBezTo>
                <a:cubicBezTo>
                  <a:pt x="127734" y="104831"/>
                  <a:pt x="127734" y="100066"/>
                  <a:pt x="130650" y="97088"/>
                </a:cubicBezTo>
                <a:cubicBezTo>
                  <a:pt x="142898" y="84579"/>
                  <a:pt x="142898" y="84579"/>
                  <a:pt x="142898" y="84579"/>
                </a:cubicBezTo>
                <a:cubicBezTo>
                  <a:pt x="145815" y="81601"/>
                  <a:pt x="150481" y="81601"/>
                  <a:pt x="153397" y="84579"/>
                </a:cubicBezTo>
                <a:cubicBezTo>
                  <a:pt x="223388" y="156649"/>
                  <a:pt x="223388" y="156649"/>
                  <a:pt x="223388" y="156649"/>
                </a:cubicBezTo>
                <a:cubicBezTo>
                  <a:pt x="235636" y="169158"/>
                  <a:pt x="235636" y="169158"/>
                  <a:pt x="235636" y="169158"/>
                </a:cubicBezTo>
                <a:cubicBezTo>
                  <a:pt x="238553" y="172136"/>
                  <a:pt x="238553" y="176901"/>
                  <a:pt x="235636" y="179283"/>
                </a:cubicBezTo>
                <a:close/>
              </a:path>
            </a:pathLst>
          </a:cu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3" name="AutoShape 3"/>
          <p:cNvSpPr/>
          <p:nvPr/>
        </p:nvSpPr>
        <p:spPr>
          <a:xfrm>
            <a:off x="6562946" y="566129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01 / 每日精神分裂实录</a:t>
            </a:r>
            <a:endParaRPr lang="en-US" sz="1200"/>
          </a:p>
        </p:txBody>
      </p:sp>
      <p:sp>
        <p:nvSpPr>
          <p:cNvPr id="4" name="AutoShape 4"/>
          <p:cNvSpPr/>
          <p:nvPr/>
        </p:nvSpPr>
        <p:spPr>
          <a:xfrm>
            <a:off x="6562946" y="1112229"/>
            <a:ext cx="5334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t" anchorCtr="0"/>
          <a:lstStyle/>
          <a:p>
            <a:pPr latinLnBrk="1"/>
            <a:r>
              <a:rPr lang="zh-CN" altLang="en-US" sz="1600" dirty="0"/>
              <a:t>早上：这学期我一定要拿奖学金！</a:t>
            </a:r>
          </a:p>
          <a:p>
            <a:pPr latinLnBrk="1"/>
            <a:r>
              <a:rPr lang="zh-CN" altLang="en-US" sz="1600" dirty="0"/>
              <a:t>中午：人活着到底是为了什么？</a:t>
            </a:r>
          </a:p>
          <a:p>
            <a:pPr latinLnBrk="1"/>
            <a:r>
              <a:rPr lang="zh-CN" altLang="en-US" sz="1600" dirty="0"/>
              <a:t>晚上：毁灭吧，论文</a:t>
            </a:r>
            <a:r>
              <a:rPr lang="en-US" altLang="zh-CN" sz="1600" dirty="0"/>
              <a:t>/</a:t>
            </a:r>
            <a:r>
              <a:rPr lang="zh-CN" altLang="en-US" sz="1600" dirty="0"/>
              <a:t>考试</a:t>
            </a:r>
            <a:r>
              <a:rPr lang="en-US" altLang="zh-CN" sz="1600" dirty="0"/>
              <a:t>/</a:t>
            </a:r>
            <a:r>
              <a:rPr lang="zh-CN" altLang="en-US" sz="1600" dirty="0"/>
              <a:t>小组作业，累了。</a:t>
            </a:r>
          </a:p>
        </p:txBody>
      </p:sp>
      <p:sp>
        <p:nvSpPr>
          <p:cNvPr id="5" name="Freeform 5"/>
          <p:cNvSpPr/>
          <p:nvPr/>
        </p:nvSpPr>
        <p:spPr>
          <a:xfrm>
            <a:off x="6220046" y="2191729"/>
            <a:ext cx="341206" cy="348442"/>
          </a:xfrm>
          <a:custGeom>
            <a:avLst/>
            <a:gdLst/>
            <a:ahLst/>
            <a:cxnLst/>
            <a:rect l="l" t="t" r="r" b="b"/>
            <a:pathLst>
              <a:path w="341206" h="348442">
                <a:moveTo>
                  <a:pt x="170311" y="0"/>
                </a:moveTo>
                <a:cubicBezTo>
                  <a:pt x="76407" y="0"/>
                  <a:pt x="0" y="78028"/>
                  <a:pt x="0" y="174518"/>
                </a:cubicBezTo>
                <a:cubicBezTo>
                  <a:pt x="0" y="270415"/>
                  <a:pt x="76407" y="348442"/>
                  <a:pt x="170311" y="348442"/>
                </a:cubicBezTo>
                <a:cubicBezTo>
                  <a:pt x="264799" y="348442"/>
                  <a:pt x="340623" y="270415"/>
                  <a:pt x="340623" y="174518"/>
                </a:cubicBezTo>
                <a:cubicBezTo>
                  <a:pt x="341206" y="78028"/>
                  <a:pt x="264799" y="0"/>
                  <a:pt x="170311" y="0"/>
                </a:cubicBezTo>
                <a:close/>
                <a:moveTo>
                  <a:pt x="235636" y="179283"/>
                </a:moveTo>
                <a:cubicBezTo>
                  <a:pt x="223388" y="192387"/>
                  <a:pt x="223388" y="192387"/>
                  <a:pt x="223388" y="192387"/>
                </a:cubicBezTo>
                <a:cubicBezTo>
                  <a:pt x="153397" y="263863"/>
                  <a:pt x="153397" y="263863"/>
                  <a:pt x="153397" y="263863"/>
                </a:cubicBezTo>
                <a:cubicBezTo>
                  <a:pt x="150481" y="266841"/>
                  <a:pt x="145815" y="266841"/>
                  <a:pt x="142898" y="263863"/>
                </a:cubicBezTo>
                <a:cubicBezTo>
                  <a:pt x="130650" y="251355"/>
                  <a:pt x="130650" y="251355"/>
                  <a:pt x="130650" y="251355"/>
                </a:cubicBezTo>
                <a:cubicBezTo>
                  <a:pt x="127734" y="248376"/>
                  <a:pt x="127734" y="243611"/>
                  <a:pt x="130650" y="240633"/>
                </a:cubicBezTo>
                <a:cubicBezTo>
                  <a:pt x="195392" y="174518"/>
                  <a:pt x="195392" y="174518"/>
                  <a:pt x="195392" y="174518"/>
                </a:cubicBezTo>
                <a:cubicBezTo>
                  <a:pt x="130650" y="107809"/>
                  <a:pt x="130650" y="107809"/>
                  <a:pt x="130650" y="107809"/>
                </a:cubicBezTo>
                <a:cubicBezTo>
                  <a:pt x="127734" y="104831"/>
                  <a:pt x="127734" y="100066"/>
                  <a:pt x="130650" y="97088"/>
                </a:cubicBezTo>
                <a:cubicBezTo>
                  <a:pt x="142898" y="84579"/>
                  <a:pt x="142898" y="84579"/>
                  <a:pt x="142898" y="84579"/>
                </a:cubicBezTo>
                <a:cubicBezTo>
                  <a:pt x="145815" y="81601"/>
                  <a:pt x="150481" y="81601"/>
                  <a:pt x="153397" y="84579"/>
                </a:cubicBezTo>
                <a:cubicBezTo>
                  <a:pt x="223388" y="156649"/>
                  <a:pt x="223388" y="156649"/>
                  <a:pt x="223388" y="156649"/>
                </a:cubicBezTo>
                <a:cubicBezTo>
                  <a:pt x="235636" y="169158"/>
                  <a:pt x="235636" y="169158"/>
                  <a:pt x="235636" y="169158"/>
                </a:cubicBezTo>
                <a:cubicBezTo>
                  <a:pt x="238553" y="172136"/>
                  <a:pt x="238553" y="176901"/>
                  <a:pt x="235636" y="179283"/>
                </a:cubicBezTo>
                <a:close/>
              </a:path>
            </a:pathLst>
          </a:cu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6" name="AutoShape 6"/>
          <p:cNvSpPr/>
          <p:nvPr/>
        </p:nvSpPr>
        <p:spPr>
          <a:xfrm>
            <a:off x="6562946" y="2128229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02 / 我的战略合作伙伴</a:t>
            </a:r>
            <a:endParaRPr lang="en-US" sz="1200"/>
          </a:p>
        </p:txBody>
      </p:sp>
      <p:sp>
        <p:nvSpPr>
          <p:cNvPr id="7" name="AutoShape 7"/>
          <p:cNvSpPr/>
          <p:nvPr/>
        </p:nvSpPr>
        <p:spPr>
          <a:xfrm>
            <a:off x="6562946" y="2699729"/>
            <a:ext cx="5334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ctr" anchorCtr="0"/>
          <a:lstStyle/>
          <a:p>
            <a:pPr latinLnBrk="1"/>
            <a:r>
              <a:rPr lang="zh-CN" altLang="en-US" sz="1600" dirty="0"/>
              <a:t>闹钟响了，我不起来，不是因为我懒，</a:t>
            </a:r>
          </a:p>
          <a:p>
            <a:pPr latinLnBrk="1"/>
            <a:r>
              <a:rPr lang="zh-CN" altLang="en-US" sz="1600" dirty="0"/>
              <a:t>是因为我和我的被窝达成了牢不可破的战略合作伙伴关系。</a:t>
            </a:r>
          </a:p>
        </p:txBody>
      </p:sp>
      <p:sp>
        <p:nvSpPr>
          <p:cNvPr id="8" name="Freeform 8"/>
          <p:cNvSpPr/>
          <p:nvPr/>
        </p:nvSpPr>
        <p:spPr>
          <a:xfrm>
            <a:off x="6220046" y="3779229"/>
            <a:ext cx="341206" cy="348442"/>
          </a:xfrm>
          <a:custGeom>
            <a:avLst/>
            <a:gdLst/>
            <a:ahLst/>
            <a:cxnLst/>
            <a:rect l="l" t="t" r="r" b="b"/>
            <a:pathLst>
              <a:path w="341206" h="348442">
                <a:moveTo>
                  <a:pt x="170311" y="0"/>
                </a:moveTo>
                <a:cubicBezTo>
                  <a:pt x="76407" y="0"/>
                  <a:pt x="0" y="78028"/>
                  <a:pt x="0" y="174518"/>
                </a:cubicBezTo>
                <a:cubicBezTo>
                  <a:pt x="0" y="270415"/>
                  <a:pt x="76407" y="348442"/>
                  <a:pt x="170311" y="348442"/>
                </a:cubicBezTo>
                <a:cubicBezTo>
                  <a:pt x="264799" y="348442"/>
                  <a:pt x="340623" y="270415"/>
                  <a:pt x="340623" y="174518"/>
                </a:cubicBezTo>
                <a:cubicBezTo>
                  <a:pt x="341206" y="78028"/>
                  <a:pt x="264799" y="0"/>
                  <a:pt x="170311" y="0"/>
                </a:cubicBezTo>
                <a:close/>
                <a:moveTo>
                  <a:pt x="235636" y="179283"/>
                </a:moveTo>
                <a:cubicBezTo>
                  <a:pt x="223388" y="192387"/>
                  <a:pt x="223388" y="192387"/>
                  <a:pt x="223388" y="192387"/>
                </a:cubicBezTo>
                <a:cubicBezTo>
                  <a:pt x="153397" y="263863"/>
                  <a:pt x="153397" y="263863"/>
                  <a:pt x="153397" y="263863"/>
                </a:cubicBezTo>
                <a:cubicBezTo>
                  <a:pt x="150481" y="266841"/>
                  <a:pt x="145815" y="266841"/>
                  <a:pt x="142898" y="263863"/>
                </a:cubicBezTo>
                <a:cubicBezTo>
                  <a:pt x="130650" y="251355"/>
                  <a:pt x="130650" y="251355"/>
                  <a:pt x="130650" y="251355"/>
                </a:cubicBezTo>
                <a:cubicBezTo>
                  <a:pt x="127734" y="248376"/>
                  <a:pt x="127734" y="243611"/>
                  <a:pt x="130650" y="240633"/>
                </a:cubicBezTo>
                <a:cubicBezTo>
                  <a:pt x="195392" y="174518"/>
                  <a:pt x="195392" y="174518"/>
                  <a:pt x="195392" y="174518"/>
                </a:cubicBezTo>
                <a:cubicBezTo>
                  <a:pt x="130650" y="107809"/>
                  <a:pt x="130650" y="107809"/>
                  <a:pt x="130650" y="107809"/>
                </a:cubicBezTo>
                <a:cubicBezTo>
                  <a:pt x="127734" y="104831"/>
                  <a:pt x="127734" y="100066"/>
                  <a:pt x="130650" y="97088"/>
                </a:cubicBezTo>
                <a:cubicBezTo>
                  <a:pt x="142898" y="84579"/>
                  <a:pt x="142898" y="84579"/>
                  <a:pt x="142898" y="84579"/>
                </a:cubicBezTo>
                <a:cubicBezTo>
                  <a:pt x="145815" y="81601"/>
                  <a:pt x="150481" y="81601"/>
                  <a:pt x="153397" y="84579"/>
                </a:cubicBezTo>
                <a:cubicBezTo>
                  <a:pt x="223388" y="156649"/>
                  <a:pt x="223388" y="156649"/>
                  <a:pt x="223388" y="156649"/>
                </a:cubicBezTo>
                <a:cubicBezTo>
                  <a:pt x="235636" y="169158"/>
                  <a:pt x="235636" y="169158"/>
                  <a:pt x="235636" y="169158"/>
                </a:cubicBezTo>
                <a:cubicBezTo>
                  <a:pt x="238553" y="172136"/>
                  <a:pt x="238553" y="176901"/>
                  <a:pt x="235636" y="179283"/>
                </a:cubicBezTo>
                <a:close/>
              </a:path>
            </a:pathLst>
          </a:custGeom>
          <a:solidFill>
            <a:srgbClr val="10B981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9" name="AutoShape 9"/>
          <p:cNvSpPr/>
          <p:nvPr/>
        </p:nvSpPr>
        <p:spPr>
          <a:xfrm>
            <a:off x="6562946" y="3715729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03 / 上</a:t>
            </a:r>
            <a:r>
              <a:rPr lang="zh-CN" altLang="en-US" sz="2400" b="1" i="0" u="none" strike="noStrike" dirty="0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早八</a:t>
            </a:r>
            <a:r>
              <a:rPr lang="en-US" sz="24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主打一个陪伴</a:t>
            </a:r>
            <a:endParaRPr lang="en-US" sz="1200" dirty="0"/>
          </a:p>
        </p:txBody>
      </p:sp>
      <p:sp>
        <p:nvSpPr>
          <p:cNvPr id="10" name="AutoShape 10"/>
          <p:cNvSpPr/>
          <p:nvPr/>
        </p:nvSpPr>
        <p:spPr>
          <a:xfrm>
            <a:off x="6562946" y="4287229"/>
            <a:ext cx="5334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ctr" anchorCtr="0"/>
          <a:lstStyle/>
          <a:p>
            <a:pPr latinLnBrk="1"/>
            <a:r>
              <a:rPr lang="zh-CN" altLang="en-US" sz="1600" dirty="0"/>
              <a:t>我来上早八就是来图一乐，</a:t>
            </a:r>
          </a:p>
          <a:p>
            <a:pPr latinLnBrk="1"/>
            <a:r>
              <a:rPr lang="zh-CN" altLang="en-US" sz="1600" dirty="0"/>
              <a:t>至于听没听进去，那就是另外一回事了。</a:t>
            </a:r>
          </a:p>
        </p:txBody>
      </p:sp>
      <p:sp>
        <p:nvSpPr>
          <p:cNvPr id="11" name="Freeform 11"/>
          <p:cNvSpPr/>
          <p:nvPr/>
        </p:nvSpPr>
        <p:spPr>
          <a:xfrm>
            <a:off x="6220046" y="5239729"/>
            <a:ext cx="341206" cy="348442"/>
          </a:xfrm>
          <a:custGeom>
            <a:avLst/>
            <a:gdLst/>
            <a:ahLst/>
            <a:cxnLst/>
            <a:rect l="l" t="t" r="r" b="b"/>
            <a:pathLst>
              <a:path w="341206" h="348442">
                <a:moveTo>
                  <a:pt x="170311" y="0"/>
                </a:moveTo>
                <a:cubicBezTo>
                  <a:pt x="76407" y="0"/>
                  <a:pt x="0" y="78028"/>
                  <a:pt x="0" y="174518"/>
                </a:cubicBezTo>
                <a:cubicBezTo>
                  <a:pt x="0" y="270415"/>
                  <a:pt x="76407" y="348442"/>
                  <a:pt x="170311" y="348442"/>
                </a:cubicBezTo>
                <a:cubicBezTo>
                  <a:pt x="264799" y="348442"/>
                  <a:pt x="340623" y="270415"/>
                  <a:pt x="340623" y="174518"/>
                </a:cubicBezTo>
                <a:cubicBezTo>
                  <a:pt x="341206" y="78028"/>
                  <a:pt x="264799" y="0"/>
                  <a:pt x="170311" y="0"/>
                </a:cubicBezTo>
                <a:close/>
                <a:moveTo>
                  <a:pt x="235636" y="179283"/>
                </a:moveTo>
                <a:cubicBezTo>
                  <a:pt x="223388" y="192387"/>
                  <a:pt x="223388" y="192387"/>
                  <a:pt x="223388" y="192387"/>
                </a:cubicBezTo>
                <a:cubicBezTo>
                  <a:pt x="153397" y="263863"/>
                  <a:pt x="153397" y="263863"/>
                  <a:pt x="153397" y="263863"/>
                </a:cubicBezTo>
                <a:cubicBezTo>
                  <a:pt x="150481" y="266841"/>
                  <a:pt x="145815" y="266841"/>
                  <a:pt x="142898" y="263863"/>
                </a:cubicBezTo>
                <a:cubicBezTo>
                  <a:pt x="130650" y="251355"/>
                  <a:pt x="130650" y="251355"/>
                  <a:pt x="130650" y="251355"/>
                </a:cubicBezTo>
                <a:cubicBezTo>
                  <a:pt x="127734" y="248376"/>
                  <a:pt x="127734" y="243611"/>
                  <a:pt x="130650" y="240633"/>
                </a:cubicBezTo>
                <a:cubicBezTo>
                  <a:pt x="195392" y="174518"/>
                  <a:pt x="195392" y="174518"/>
                  <a:pt x="195392" y="174518"/>
                </a:cubicBezTo>
                <a:cubicBezTo>
                  <a:pt x="130650" y="107809"/>
                  <a:pt x="130650" y="107809"/>
                  <a:pt x="130650" y="107809"/>
                </a:cubicBezTo>
                <a:cubicBezTo>
                  <a:pt x="127734" y="104831"/>
                  <a:pt x="127734" y="100066"/>
                  <a:pt x="130650" y="97088"/>
                </a:cubicBezTo>
                <a:cubicBezTo>
                  <a:pt x="142898" y="84579"/>
                  <a:pt x="142898" y="84579"/>
                  <a:pt x="142898" y="84579"/>
                </a:cubicBezTo>
                <a:cubicBezTo>
                  <a:pt x="145815" y="81601"/>
                  <a:pt x="150481" y="81601"/>
                  <a:pt x="153397" y="84579"/>
                </a:cubicBezTo>
                <a:cubicBezTo>
                  <a:pt x="223388" y="156649"/>
                  <a:pt x="223388" y="156649"/>
                  <a:pt x="223388" y="156649"/>
                </a:cubicBezTo>
                <a:cubicBezTo>
                  <a:pt x="235636" y="169158"/>
                  <a:pt x="235636" y="169158"/>
                  <a:pt x="235636" y="169158"/>
                </a:cubicBezTo>
                <a:cubicBezTo>
                  <a:pt x="238553" y="172136"/>
                  <a:pt x="238553" y="176901"/>
                  <a:pt x="235636" y="179283"/>
                </a:cubicBezTo>
                <a:close/>
              </a:path>
            </a:pathLst>
          </a:custGeom>
          <a:solidFill>
            <a:srgbClr val="F59E0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600"/>
          </a:p>
        </p:txBody>
      </p:sp>
      <p:sp>
        <p:nvSpPr>
          <p:cNvPr id="12" name="AutoShape 12"/>
          <p:cNvSpPr/>
          <p:nvPr/>
        </p:nvSpPr>
        <p:spPr>
          <a:xfrm>
            <a:off x="6562946" y="5176229"/>
            <a:ext cx="508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04 / 硬件配置告急</a:t>
            </a:r>
            <a:endParaRPr lang="en-US" sz="1200"/>
          </a:p>
        </p:txBody>
      </p:sp>
      <p:sp>
        <p:nvSpPr>
          <p:cNvPr id="13" name="AutoShape 13"/>
          <p:cNvSpPr/>
          <p:nvPr/>
        </p:nvSpPr>
        <p:spPr>
          <a:xfrm>
            <a:off x="6562946" y="5684229"/>
            <a:ext cx="533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76200" rIns="101600" bIns="76200" rtlCol="0" anchor="ctr" anchorCtr="0"/>
          <a:lstStyle/>
          <a:p>
            <a:pPr latinLnBrk="1"/>
            <a:r>
              <a:rPr lang="zh-CN" altLang="en-US" sz="1600" dirty="0"/>
              <a:t>我的大脑</a:t>
            </a:r>
            <a:r>
              <a:rPr lang="en-US" altLang="zh-CN" sz="1600" dirty="0"/>
              <a:t>CPU</a:t>
            </a:r>
            <a:r>
              <a:rPr lang="zh-CN" altLang="en-US" sz="1600" dirty="0"/>
              <a:t>已经烧干了，</a:t>
            </a:r>
          </a:p>
          <a:p>
            <a:pPr latinLnBrk="1"/>
            <a:r>
              <a:rPr lang="zh-CN" altLang="en-US" sz="1600" dirty="0"/>
              <a:t>但期末周还在持续运行。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 t="11111" b="11111"/>
          <a:stretch>
            <a:fillRect/>
          </a:stretch>
        </p:blipFill>
        <p:spPr>
          <a:xfrm>
            <a:off x="644046" y="2311400"/>
            <a:ext cx="4572000" cy="355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837112" y="839383"/>
            <a:ext cx="4572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27000" rIns="127000" bIns="1270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我们先来“发个疯”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Relax, It's Just a Joke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E35D53A-4D53-D149-0C7D-D543A83D488C}"/>
              </a:ext>
            </a:extLst>
          </p:cNvPr>
          <p:cNvSpPr txBox="1"/>
          <p:nvPr/>
        </p:nvSpPr>
        <p:spPr>
          <a:xfrm>
            <a:off x="-3128421" y="1995557"/>
            <a:ext cx="27468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监控拆了，谢谢🙏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FBE1469-EF9C-83A8-419E-3E4B3C33C8AD}"/>
              </a:ext>
            </a:extLst>
          </p:cNvPr>
          <p:cNvSpPr txBox="1"/>
          <p:nvPr/>
        </p:nvSpPr>
        <p:spPr>
          <a:xfrm>
            <a:off x="-2590150" y="716183"/>
            <a:ext cx="25514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/>
              <a:t>谁在我身上装了摄像头？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AC4CD18-A5CC-DF71-FC66-4304E318470E}"/>
              </a:ext>
            </a:extLst>
          </p:cNvPr>
          <p:cNvSpPr txBox="1"/>
          <p:nvPr/>
        </p:nvSpPr>
        <p:spPr>
          <a:xfrm>
            <a:off x="-4655532" y="388269"/>
            <a:ext cx="430958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早上：我要当卷王 </a:t>
            </a:r>
            <a:r>
              <a:rPr lang="en-US" altLang="zh-CN" sz="2000" b="1" dirty="0">
                <a:solidFill>
                  <a:schemeClr val="accent2">
                    <a:lumMod val="75000"/>
                  </a:schemeClr>
                </a:solidFill>
              </a:rPr>
              <a:t>/ </a:t>
            </a:r>
            <a:r>
              <a:rPr lang="zh-CN" altLang="en-US" sz="2000" b="1" dirty="0">
                <a:solidFill>
                  <a:schemeClr val="accent2">
                    <a:lumMod val="75000"/>
                  </a:schemeClr>
                </a:solidFill>
              </a:rPr>
              <a:t>晚上：卷不动了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7AF7B07-876C-DE17-BAD0-E37140EF2B20}"/>
              </a:ext>
            </a:extLst>
          </p:cNvPr>
          <p:cNvSpPr txBox="1"/>
          <p:nvPr/>
        </p:nvSpPr>
        <p:spPr>
          <a:xfrm>
            <a:off x="-2804175" y="3876104"/>
            <a:ext cx="265445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被窝：我才是你的真爱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F3C473C-F06A-E9B0-973F-0C8AFC2C973B}"/>
              </a:ext>
            </a:extLst>
          </p:cNvPr>
          <p:cNvSpPr txBox="1"/>
          <p:nvPr/>
        </p:nvSpPr>
        <p:spPr>
          <a:xfrm>
            <a:off x="-3128421" y="4454184"/>
            <a:ext cx="32990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7030A0"/>
                </a:solidFill>
              </a:rPr>
              <a:t>早八人早八魂，早八都是人下人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E2F2964-880F-6B4E-CAE1-7BBA4915CD5E}"/>
              </a:ext>
            </a:extLst>
          </p:cNvPr>
          <p:cNvSpPr txBox="1"/>
          <p:nvPr/>
        </p:nvSpPr>
        <p:spPr>
          <a:xfrm>
            <a:off x="-5170734" y="3738197"/>
            <a:ext cx="23633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70C0"/>
                </a:solidFill>
              </a:rPr>
              <a:t>CPU</a:t>
            </a:r>
            <a:r>
              <a:rPr lang="zh-CN" altLang="en-US" b="1" dirty="0">
                <a:solidFill>
                  <a:srgbClr val="0070C0"/>
                </a:solidFill>
              </a:rPr>
              <a:t>干烧了，但我还在嘴硬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4999247-A572-D8A9-2764-3C3F43B22AA7}"/>
              </a:ext>
            </a:extLst>
          </p:cNvPr>
          <p:cNvSpPr txBox="1"/>
          <p:nvPr/>
        </p:nvSpPr>
        <p:spPr>
          <a:xfrm>
            <a:off x="-3068896" y="3324578"/>
            <a:ext cx="32990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小组作业：一场没有赢家的战争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26440ED-E7FA-4EBA-AB2D-0341E862708D}"/>
              </a:ext>
            </a:extLst>
          </p:cNvPr>
          <p:cNvSpPr txBox="1"/>
          <p:nvPr/>
        </p:nvSpPr>
        <p:spPr>
          <a:xfrm>
            <a:off x="-5134744" y="1255494"/>
            <a:ext cx="313176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期末周的我：行尸走肉本肉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A24EDA8-72CC-84B7-F211-CAFCB24830EE}"/>
              </a:ext>
            </a:extLst>
          </p:cNvPr>
          <p:cNvSpPr txBox="1"/>
          <p:nvPr/>
        </p:nvSpPr>
        <p:spPr>
          <a:xfrm>
            <a:off x="-5134744" y="3277601"/>
            <a:ext cx="23794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</a:rPr>
              <a:t>每天一个</a:t>
            </a:r>
            <a:r>
              <a:rPr lang="en-US" altLang="zh-CN" sz="1600" b="1" dirty="0">
                <a:solidFill>
                  <a:srgbClr val="0070C0"/>
                </a:solidFill>
              </a:rPr>
              <a:t>emo</a:t>
            </a:r>
            <a:r>
              <a:rPr lang="zh-CN" altLang="en-US" sz="1600" b="1" dirty="0">
                <a:solidFill>
                  <a:srgbClr val="0070C0"/>
                </a:solidFill>
              </a:rPr>
              <a:t>小技巧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C7C15A8-7A6D-0B0F-B366-9561377A8D45}"/>
              </a:ext>
            </a:extLst>
          </p:cNvPr>
          <p:cNvSpPr txBox="1"/>
          <p:nvPr/>
        </p:nvSpPr>
        <p:spPr>
          <a:xfrm>
            <a:off x="-3239111" y="2847515"/>
            <a:ext cx="253625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accent2">
                    <a:lumMod val="75000"/>
                  </a:schemeClr>
                </a:solidFill>
              </a:rPr>
              <a:t>别骂了别骂了，已经在疯了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6C4C274-3151-698A-8780-B624A2660CF2}"/>
              </a:ext>
            </a:extLst>
          </p:cNvPr>
          <p:cNvSpPr txBox="1"/>
          <p:nvPr/>
        </p:nvSpPr>
        <p:spPr>
          <a:xfrm>
            <a:off x="-4537808" y="2474583"/>
            <a:ext cx="208783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accent6">
                    <a:lumMod val="75000"/>
                  </a:schemeClr>
                </a:solidFill>
              </a:rPr>
              <a:t>这不是我本人发言吗？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1C509A3-1881-0037-9796-C8DCB47816CC}"/>
              </a:ext>
            </a:extLst>
          </p:cNvPr>
          <p:cNvSpPr txBox="1"/>
          <p:nvPr/>
        </p:nvSpPr>
        <p:spPr>
          <a:xfrm>
            <a:off x="-2542794" y="5551572"/>
            <a:ext cx="25133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</a:rPr>
              <a:t>战略合作伙伴关系已续期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A547B8B6-3B3A-F4FB-5FD4-994F43D0283E}"/>
              </a:ext>
            </a:extLst>
          </p:cNvPr>
          <p:cNvSpPr txBox="1"/>
          <p:nvPr/>
        </p:nvSpPr>
        <p:spPr>
          <a:xfrm>
            <a:off x="-4969628" y="5986778"/>
            <a:ext cx="291760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7030A0"/>
                </a:solidFill>
              </a:rPr>
              <a:t>毁灭吧，赶紧的（双手赞成）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549ED91-509E-C49F-F0C2-E9BE59253562}"/>
              </a:ext>
            </a:extLst>
          </p:cNvPr>
          <p:cNvSpPr txBox="1"/>
          <p:nvPr/>
        </p:nvSpPr>
        <p:spPr>
          <a:xfrm>
            <a:off x="-4775812" y="5247532"/>
            <a:ext cx="25698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rgbClr val="0070C0"/>
                </a:solidFill>
              </a:rPr>
              <a:t>精神状态美丽得像假的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9697117-2ABC-84FB-47F5-AE65E6B85C88}"/>
              </a:ext>
            </a:extLst>
          </p:cNvPr>
          <p:cNvSpPr txBox="1"/>
          <p:nvPr/>
        </p:nvSpPr>
        <p:spPr>
          <a:xfrm>
            <a:off x="-4775812" y="4705660"/>
            <a:ext cx="201367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7030A0"/>
                </a:solidFill>
              </a:rPr>
              <a:t>笑着笑着就哭了</a:t>
            </a:r>
            <a:r>
              <a:rPr lang="en-US" altLang="zh-CN" b="1" dirty="0">
                <a:solidFill>
                  <a:srgbClr val="7030A0"/>
                </a:solidFill>
              </a:rPr>
              <a:t>.jpg</a:t>
            </a:r>
            <a:endParaRPr lang="zh-CN" altLang="en-US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8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8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8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8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8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8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8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8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8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8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9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9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3" grpId="0"/>
      <p:bldP spid="25" grpId="0"/>
      <p:bldP spid="27" grpId="0"/>
      <p:bldP spid="29" grpId="0"/>
      <p:bldP spid="31" grpId="0"/>
      <p:bldP spid="35" grpId="0"/>
      <p:bldP spid="37" grpId="0"/>
      <p:bldP spid="39" grpId="0"/>
      <p:bldP spid="41" grpId="0"/>
      <p:bldP spid="43" grpId="0"/>
      <p:bldP spid="45" grpId="0"/>
      <p:bldP spid="4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2659" y="127000"/>
            <a:ext cx="1079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苦难，被做成了表情包</a:t>
            </a:r>
            <a:endParaRPr lang="en-US" sz="11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663A7A23-D931-6F3F-F540-C5C0D613C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824" y="3378933"/>
            <a:ext cx="3692008" cy="3185720"/>
          </a:xfrm>
          <a:prstGeom prst="rect">
            <a:avLst/>
          </a:prstGeom>
        </p:spPr>
      </p:pic>
      <p:pic>
        <p:nvPicPr>
          <p:cNvPr id="1032" name="Picture 8" descr="有什么适合期末考试的表情包吗？ - 知乎">
            <a:extLst>
              <a:ext uri="{FF2B5EF4-FFF2-40B4-BE49-F238E27FC236}">
                <a16:creationId xmlns:a16="http://schemas.microsoft.com/office/drawing/2014/main" id="{1689DEB7-4C5A-282B-D7CD-FA6513692A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59" y="3488891"/>
            <a:ext cx="5245690" cy="330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3">
            <a:extLst>
              <a:ext uri="{FF2B5EF4-FFF2-40B4-BE49-F238E27FC236}">
                <a16:creationId xmlns:a16="http://schemas.microsoft.com/office/drawing/2014/main" id="{DAB51063-29A0-5E9A-3D0D-6DCF97DDD804}"/>
              </a:ext>
            </a:extLst>
          </p:cNvPr>
          <p:cNvSpPr/>
          <p:nvPr/>
        </p:nvSpPr>
        <p:spPr>
          <a:xfrm>
            <a:off x="666749" y="889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C8EDDA72-6297-3065-0CA3-CE2FA874C221}"/>
              </a:ext>
            </a:extLst>
          </p:cNvPr>
          <p:cNvSpPr/>
          <p:nvPr/>
        </p:nvSpPr>
        <p:spPr>
          <a:xfrm>
            <a:off x="920749" y="1075891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1C40F"/>
                </a:solidFill>
                <a:latin typeface="微软雅黑"/>
                <a:ea typeface="微软雅黑"/>
                <a:cs typeface="微软雅黑"/>
                <a:sym typeface="微软雅黑"/>
              </a:rPr>
              <a:t>01 / </a:t>
            </a:r>
            <a:r>
              <a:rPr lang="en-US" sz="2000" b="1" i="0" u="none" strike="noStrike" dirty="0" err="1">
                <a:solidFill>
                  <a:srgbClr val="F1C40F"/>
                </a:solidFill>
                <a:latin typeface="微软雅黑"/>
                <a:ea typeface="微软雅黑"/>
                <a:cs typeface="微软雅黑"/>
                <a:sym typeface="微软雅黑"/>
              </a:rPr>
              <a:t>现实</a:t>
            </a:r>
            <a:r>
              <a:rPr lang="en-US" sz="2000" b="1" i="0" u="none" strike="noStrike" dirty="0">
                <a:solidFill>
                  <a:srgbClr val="F1C40F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2000" b="1" dirty="0">
                <a:solidFill>
                  <a:srgbClr val="F1C40F"/>
                </a:solidFill>
                <a:latin typeface="微软雅黑"/>
                <a:ea typeface="微软雅黑"/>
                <a:cs typeface="微软雅黑"/>
                <a:sym typeface="微软雅黑"/>
              </a:rPr>
              <a:t>期末周崩溃</a:t>
            </a:r>
            <a:endParaRPr lang="en-US" sz="1100" dirty="0"/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0E76C9A5-D183-7262-133D-DEBEE3172626}"/>
              </a:ext>
            </a:extLst>
          </p:cNvPr>
          <p:cNvSpPr/>
          <p:nvPr/>
        </p:nvSpPr>
        <p:spPr>
          <a:xfrm>
            <a:off x="920749" y="1837891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凌晨两点的宿舍书桌，只有你的台灯还亮着。面前是翻不完的</a:t>
            </a:r>
            <a:r>
              <a:rPr lang="en-US" altLang="zh-CN" sz="1600" dirty="0">
                <a:solidFill>
                  <a:schemeClr val="bg1"/>
                </a:solidFill>
              </a:rPr>
              <a:t>PPT</a:t>
            </a:r>
            <a:r>
              <a:rPr lang="zh-CN" altLang="en-US" sz="1600" dirty="0">
                <a:solidFill>
                  <a:schemeClr val="bg1"/>
                </a:solidFill>
              </a:rPr>
              <a:t>、背不完的重点、写不完的论文。咖啡喝到心悸，脑子已经转不动，但明天的考试还像一座大山压在胸口。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AutoShape 6">
            <a:extLst>
              <a:ext uri="{FF2B5EF4-FFF2-40B4-BE49-F238E27FC236}">
                <a16:creationId xmlns:a16="http://schemas.microsoft.com/office/drawing/2014/main" id="{A3FC8CC8-7F38-257B-344E-141753689542}"/>
              </a:ext>
            </a:extLst>
          </p:cNvPr>
          <p:cNvSpPr/>
          <p:nvPr/>
        </p:nvSpPr>
        <p:spPr>
          <a:xfrm>
            <a:off x="6570328" y="889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C0392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14" name="AutoShape 7">
            <a:extLst>
              <a:ext uri="{FF2B5EF4-FFF2-40B4-BE49-F238E27FC236}">
                <a16:creationId xmlns:a16="http://schemas.microsoft.com/office/drawing/2014/main" id="{B49D0381-AA10-B678-B4FF-9061E1A2482A}"/>
              </a:ext>
            </a:extLst>
          </p:cNvPr>
          <p:cNvSpPr/>
          <p:nvPr/>
        </p:nvSpPr>
        <p:spPr>
          <a:xfrm>
            <a:off x="6824328" y="1143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02 / 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表达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2000" b="1" dirty="0">
                <a:solidFill>
                  <a:schemeClr val="bg1"/>
                </a:solidFill>
              </a:rPr>
              <a:t>“知识它不进脑子”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6" name="AutoShape 4" descr="搞笑的期末考试前专用表情包图片又来咯(2)_配图网">
            <a:extLst>
              <a:ext uri="{FF2B5EF4-FFF2-40B4-BE49-F238E27FC236}">
                <a16:creationId xmlns:a16="http://schemas.microsoft.com/office/drawing/2014/main" id="{ABA40A89-299D-A16A-EAB5-A537AAC0D4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8349" y="257449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596D677-EAE4-EDF7-5317-21B6C953CEAF}"/>
              </a:ext>
            </a:extLst>
          </p:cNvPr>
          <p:cNvSpPr txBox="1"/>
          <p:nvPr/>
        </p:nvSpPr>
        <p:spPr>
          <a:xfrm>
            <a:off x="6726339" y="1802073"/>
            <a:ext cx="41060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solidFill>
                  <a:srgbClr val="F9FAFB"/>
                </a:solidFill>
                <a:effectLst/>
                <a:latin typeface="quote-cjk-patch"/>
              </a:rPr>
              <a:t>一张</a:t>
            </a:r>
            <a:r>
              <a:rPr lang="zh-CN" altLang="en-US" sz="1600" dirty="0">
                <a:solidFill>
                  <a:srgbClr val="F9FAFB"/>
                </a:solidFill>
                <a:latin typeface="quote-cjk-patch"/>
              </a:rPr>
              <a:t>夸张的文件放不进文件柜的图片</a:t>
            </a:r>
            <a:r>
              <a:rPr lang="zh-CN" altLang="en-US" sz="1600" b="0" i="0" dirty="0">
                <a:solidFill>
                  <a:srgbClr val="F9FAFB"/>
                </a:solidFill>
                <a:effectLst/>
                <a:latin typeface="quote-cjk-patch"/>
              </a:rPr>
              <a:t>，配上文字：</a:t>
            </a:r>
            <a:r>
              <a:rPr lang="zh-CN" altLang="en-US" sz="1600" b="1" i="0" dirty="0">
                <a:solidFill>
                  <a:srgbClr val="F9FAFB"/>
                </a:solidFill>
                <a:effectLst/>
                <a:latin typeface="quote-cjk-patch"/>
              </a:rPr>
              <a:t>“知识它不进脑子啊</a:t>
            </a:r>
            <a:r>
              <a:rPr lang="en-US" altLang="zh-CN" sz="1600" b="1" i="0" dirty="0">
                <a:solidFill>
                  <a:srgbClr val="F9FAFB"/>
                </a:solidFill>
                <a:effectLst/>
                <a:latin typeface="quote-cjk-patch"/>
              </a:rPr>
              <a:t>……</a:t>
            </a:r>
            <a:r>
              <a:rPr lang="zh-CN" altLang="en-US" sz="1600" b="1" i="0" dirty="0">
                <a:solidFill>
                  <a:srgbClr val="F9FAFB"/>
                </a:solidFill>
                <a:effectLst/>
                <a:latin typeface="quote-cjk-patch"/>
              </a:rPr>
              <a:t>（精神错乱版）”</a:t>
            </a:r>
            <a:r>
              <a:rPr lang="zh-CN" altLang="en-US" sz="1600" b="0" i="0" dirty="0">
                <a:solidFill>
                  <a:srgbClr val="F9FAFB"/>
                </a:solidFill>
                <a:effectLst/>
                <a:latin typeface="quote-cjk-patch"/>
              </a:rPr>
              <a:t> 或 </a:t>
            </a:r>
            <a:r>
              <a:rPr lang="zh-CN" altLang="en-US" sz="1600" b="1" i="0" dirty="0">
                <a:solidFill>
                  <a:srgbClr val="F9FAFB"/>
                </a:solidFill>
                <a:effectLst/>
                <a:latin typeface="quote-cjk-patch"/>
              </a:rPr>
              <a:t>“当我尝试用</a:t>
            </a:r>
            <a:r>
              <a:rPr lang="en-US" altLang="zh-CN" sz="1600" b="1" i="0" dirty="0">
                <a:solidFill>
                  <a:srgbClr val="F9FAFB"/>
                </a:solidFill>
                <a:effectLst/>
                <a:latin typeface="quote-cjk-patch"/>
              </a:rPr>
              <a:t>3</a:t>
            </a:r>
            <a:r>
              <a:rPr lang="zh-CN" altLang="en-US" sz="1600" b="1" i="0" dirty="0">
                <a:solidFill>
                  <a:srgbClr val="F9FAFB"/>
                </a:solidFill>
                <a:effectLst/>
                <a:latin typeface="quote-cjk-patch"/>
              </a:rPr>
              <a:t>天学完一学期的知识时，我的大脑选择了关机。”</a:t>
            </a:r>
            <a:endParaRPr lang="zh-CN" altLang="en-US" sz="1600" dirty="0"/>
          </a:p>
        </p:txBody>
      </p:sp>
      <p:sp>
        <p:nvSpPr>
          <p:cNvPr id="29" name="AutoShape 8">
            <a:extLst>
              <a:ext uri="{FF2B5EF4-FFF2-40B4-BE49-F238E27FC236}">
                <a16:creationId xmlns:a16="http://schemas.microsoft.com/office/drawing/2014/main" id="{01144AF8-BED6-8E35-1ABA-35978856D0C4}"/>
              </a:ext>
            </a:extLst>
          </p:cNvPr>
          <p:cNvSpPr/>
          <p:nvPr/>
        </p:nvSpPr>
        <p:spPr>
          <a:xfrm>
            <a:off x="993259" y="7544086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FDEDEC"/>
                </a:solidFill>
                <a:latin typeface="Noto Sans SC"/>
                <a:ea typeface="Noto Sans SC"/>
                <a:cs typeface="Noto Sans SC"/>
                <a:sym typeface="Noto Sans SC"/>
              </a:rPr>
              <a:t>用夸张的、戏剧化的戏谑表达，将真实的痛苦转化为一种荒诞、自嘲的笑料，消解压力</a:t>
            </a:r>
            <a:r>
              <a:rPr lang="en-US" sz="1600" b="0" i="0" u="none" strike="noStrike" dirty="0">
                <a:solidFill>
                  <a:srgbClr val="FDEDE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dirty="0"/>
          </a:p>
        </p:txBody>
      </p:sp>
      <p:sp>
        <p:nvSpPr>
          <p:cNvPr id="30" name="AutoShape 9">
            <a:extLst>
              <a:ext uri="{FF2B5EF4-FFF2-40B4-BE49-F238E27FC236}">
                <a16:creationId xmlns:a16="http://schemas.microsoft.com/office/drawing/2014/main" id="{CD569C96-50E4-851C-140D-3480AE51F0DB}"/>
              </a:ext>
            </a:extLst>
          </p:cNvPr>
          <p:cNvSpPr/>
          <p:nvPr/>
        </p:nvSpPr>
        <p:spPr>
          <a:xfrm>
            <a:off x="583021" y="6976195"/>
            <a:ext cx="5080000" cy="2413000"/>
          </a:xfrm>
          <a:prstGeom prst="roundRect">
            <a:avLst>
              <a:gd name="adj" fmla="val 6315"/>
            </a:avLst>
          </a:prstGeom>
          <a:solidFill>
            <a:srgbClr val="F7F9FA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31" name="AutoShape 11">
            <a:extLst>
              <a:ext uri="{FF2B5EF4-FFF2-40B4-BE49-F238E27FC236}">
                <a16:creationId xmlns:a16="http://schemas.microsoft.com/office/drawing/2014/main" id="{299CE024-D127-0FB2-F8D8-CA2EA735C66D}"/>
              </a:ext>
            </a:extLst>
          </p:cNvPr>
          <p:cNvSpPr/>
          <p:nvPr/>
        </p:nvSpPr>
        <p:spPr>
          <a:xfrm>
            <a:off x="708850" y="7428833"/>
            <a:ext cx="4681865" cy="16232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压抑与沉重</a:t>
            </a:r>
            <a:endParaRPr lang="en-US" dirty="0"/>
          </a:p>
          <a:p>
            <a:r>
              <a:rPr lang="zh-CN" altLang="en-US" dirty="0"/>
              <a:t>真实生活中的负面情绪</a:t>
            </a:r>
            <a:r>
              <a:rPr lang="en-US" altLang="zh-CN" dirty="0"/>
              <a:t>——</a:t>
            </a:r>
            <a:r>
              <a:rPr lang="zh-CN" altLang="en-US" b="1" dirty="0"/>
              <a:t>考试焦虑、经济压力、就业迷茫、社交疲惫、同辈竞争</a:t>
            </a:r>
            <a:r>
              <a:rPr lang="en-US" altLang="zh-CN" dirty="0"/>
              <a:t>……</a:t>
            </a:r>
            <a:r>
              <a:rPr lang="zh-CN" altLang="en-US" dirty="0"/>
              <a:t>每天都在积攒，却很难在现实中找到一个正当的宣泄口。</a:t>
            </a:r>
          </a:p>
          <a:p>
            <a:r>
              <a:rPr lang="zh-CN" altLang="en-US" dirty="0"/>
              <a:t>于是，这些情绪就像高压锅里的蒸汽，越积越多，却无处可逃。我们学会了微笑抑郁，学会了“我没事”，学会了把所有的不开心咽回肚子里。</a:t>
            </a:r>
          </a:p>
          <a:p>
            <a:r>
              <a:rPr lang="zh-CN" altLang="en-US" b="1" dirty="0"/>
              <a:t>结果就是：痛苦是真实的，但表达痛苦的渠道是缺失的。</a:t>
            </a:r>
            <a:endParaRPr lang="zh-CN" altLang="en-US" dirty="0"/>
          </a:p>
          <a:p>
            <a:br>
              <a:rPr lang="zh-CN" altLang="en-US" sz="1600" dirty="0"/>
            </a:br>
            <a:endParaRPr lang="en-US" sz="1600" b="0" i="0" u="none" strike="noStrike" dirty="0">
              <a:solidFill>
                <a:srgbClr val="646A7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2" name="AutoShape 12">
            <a:extLst>
              <a:ext uri="{FF2B5EF4-FFF2-40B4-BE49-F238E27FC236}">
                <a16:creationId xmlns:a16="http://schemas.microsoft.com/office/drawing/2014/main" id="{93BFFEBD-96E8-4D3C-938E-506CC4DAD02C}"/>
              </a:ext>
            </a:extLst>
          </p:cNvPr>
          <p:cNvSpPr/>
          <p:nvPr/>
        </p:nvSpPr>
        <p:spPr>
          <a:xfrm>
            <a:off x="6443328" y="6976195"/>
            <a:ext cx="5080000" cy="2413000"/>
          </a:xfrm>
          <a:prstGeom prst="roundRect">
            <a:avLst>
              <a:gd name="adj" fmla="val 6315"/>
            </a:avLst>
          </a:prstGeom>
          <a:solidFill>
            <a:srgbClr val="FDF2F0">
              <a:alpha val="100000"/>
            </a:srgbClr>
          </a:solidFill>
          <a:ln w="12700" cap="flat" cmpd="sng">
            <a:solidFill>
              <a:srgbClr val="E74C3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33" name="AutoShape 14">
            <a:extLst>
              <a:ext uri="{FF2B5EF4-FFF2-40B4-BE49-F238E27FC236}">
                <a16:creationId xmlns:a16="http://schemas.microsoft.com/office/drawing/2014/main" id="{9543C45F-1106-7701-DD73-4FDEB9C529A7}"/>
              </a:ext>
            </a:extLst>
          </p:cNvPr>
          <p:cNvSpPr/>
          <p:nvPr/>
        </p:nvSpPr>
        <p:spPr>
          <a:xfrm>
            <a:off x="6599339" y="7413542"/>
            <a:ext cx="4728238" cy="1404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解构与娱乐</a:t>
            </a:r>
            <a:endParaRPr lang="en-US" dirty="0"/>
          </a:p>
          <a:p>
            <a:r>
              <a:rPr lang="zh-CN" altLang="en-US" dirty="0"/>
              <a:t>“发疯文学”和表情包的出现，恰好填补了这个缺口。</a:t>
            </a:r>
          </a:p>
          <a:p>
            <a:r>
              <a:rPr lang="zh-CN" altLang="en-US" dirty="0"/>
              <a:t>它把沉重的、难以言说的痛苦，用一种</a:t>
            </a:r>
            <a:r>
              <a:rPr lang="zh-CN" altLang="en-US" b="1" dirty="0"/>
              <a:t>夸张、荒诞、自嘲</a:t>
            </a:r>
            <a:r>
              <a:rPr lang="zh-CN" altLang="en-US" dirty="0"/>
              <a:t>的方式重新包装</a:t>
            </a:r>
            <a:r>
              <a:rPr lang="en-US" altLang="zh-CN" dirty="0"/>
              <a:t>——</a:t>
            </a:r>
            <a:r>
              <a:rPr lang="zh-CN" altLang="en-US" dirty="0"/>
              <a:t>原本压得人喘不过气的事情，变成一个可以发出去、可以被点赞、可以被转发的梗。</a:t>
            </a:r>
          </a:p>
          <a:p>
            <a:r>
              <a:rPr lang="zh-CN" altLang="en-US" dirty="0"/>
              <a:t>这个过程，其实是一种</a:t>
            </a:r>
            <a:r>
              <a:rPr lang="zh-CN" altLang="en-US" b="1" dirty="0"/>
              <a:t>情绪的“无害化”释放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更重要的是，当无数人都在用类似的段子表达类似的痛苦时，个体的孤独感被稀释了</a:t>
            </a:r>
            <a:r>
              <a:rPr lang="en-US" altLang="zh-CN" dirty="0"/>
              <a:t>——“</a:t>
            </a:r>
            <a:r>
              <a:rPr lang="zh-CN" altLang="en-US" dirty="0"/>
              <a:t>原来你也这样”本身就是一种治愈。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9F6E26-B91D-B462-C133-43C31E5E7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BFC30B4-D6B4-DB81-0FB8-6FACD777EF98}"/>
              </a:ext>
            </a:extLst>
          </p:cNvPr>
          <p:cNvSpPr/>
          <p:nvPr/>
        </p:nvSpPr>
        <p:spPr>
          <a:xfrm>
            <a:off x="602659" y="127000"/>
            <a:ext cx="1079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苦难，被做成了表情包</a:t>
            </a:r>
            <a:endParaRPr lang="en-US" sz="1100" dirty="0"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E4D2ED3-56D6-6965-60FD-5E2F9A661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3655" y="7299551"/>
            <a:ext cx="3692008" cy="3185720"/>
          </a:xfrm>
          <a:prstGeom prst="rect">
            <a:avLst/>
          </a:prstGeom>
        </p:spPr>
      </p:pic>
      <p:pic>
        <p:nvPicPr>
          <p:cNvPr id="1032" name="Picture 8" descr="有什么适合期末考试的表情包吗？ - 知乎">
            <a:extLst>
              <a:ext uri="{FF2B5EF4-FFF2-40B4-BE49-F238E27FC236}">
                <a16:creationId xmlns:a16="http://schemas.microsoft.com/office/drawing/2014/main" id="{224D9336-0D14-6C17-526A-04A7B2A0E3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279502" y="7184858"/>
            <a:ext cx="5245690" cy="330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utoShape 8"/>
          <p:cNvSpPr/>
          <p:nvPr/>
        </p:nvSpPr>
        <p:spPr>
          <a:xfrm>
            <a:off x="1120259" y="4581028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 dirty="0" err="1">
                <a:solidFill>
                  <a:srgbClr val="FDEDEC"/>
                </a:solidFill>
                <a:latin typeface="Noto Sans SC"/>
                <a:ea typeface="Noto Sans SC"/>
                <a:cs typeface="Noto Sans SC"/>
                <a:sym typeface="Noto Sans SC"/>
              </a:rPr>
              <a:t>用夸张的、戏剧化的戏谑表达，将真实的痛苦转化为一种荒诞、自嘲的笑料，消解压力</a:t>
            </a:r>
            <a:r>
              <a:rPr lang="en-US" sz="1600" b="0" i="0" u="none" strike="noStrike" dirty="0">
                <a:solidFill>
                  <a:srgbClr val="FDEDE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dirty="0"/>
          </a:p>
        </p:txBody>
      </p:sp>
      <p:sp>
        <p:nvSpPr>
          <p:cNvPr id="13" name="AutoShape 9"/>
          <p:cNvSpPr/>
          <p:nvPr/>
        </p:nvSpPr>
        <p:spPr>
          <a:xfrm>
            <a:off x="710021" y="4013137"/>
            <a:ext cx="5080000" cy="2413000"/>
          </a:xfrm>
          <a:prstGeom prst="roundRect">
            <a:avLst>
              <a:gd name="adj" fmla="val 6315"/>
            </a:avLst>
          </a:prstGeom>
          <a:solidFill>
            <a:srgbClr val="F7F9FA">
              <a:alpha val="100000"/>
            </a:srgbClr>
          </a:solidFill>
          <a:ln w="12700" cap="flat" cmpd="sng">
            <a:solidFill>
              <a:srgbClr val="E0E0E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16" name="AutoShape 11"/>
          <p:cNvSpPr/>
          <p:nvPr/>
        </p:nvSpPr>
        <p:spPr>
          <a:xfrm>
            <a:off x="835850" y="4465775"/>
            <a:ext cx="4681865" cy="162323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压抑与沉重</a:t>
            </a:r>
            <a:endParaRPr lang="en-US" dirty="0"/>
          </a:p>
          <a:p>
            <a:r>
              <a:rPr lang="zh-CN" altLang="en-US" dirty="0"/>
              <a:t>真实生活中的负面情绪</a:t>
            </a:r>
            <a:r>
              <a:rPr lang="en-US" altLang="zh-CN" dirty="0"/>
              <a:t>——</a:t>
            </a:r>
            <a:r>
              <a:rPr lang="zh-CN" altLang="en-US" b="1" dirty="0"/>
              <a:t>考试焦虑、经济压力、就业迷茫、社交疲惫、同辈竞争</a:t>
            </a:r>
            <a:r>
              <a:rPr lang="en-US" altLang="zh-CN" dirty="0"/>
              <a:t>……</a:t>
            </a:r>
            <a:r>
              <a:rPr lang="zh-CN" altLang="en-US" dirty="0"/>
              <a:t>每天都在积攒，却很难在现实中找到一个正当的宣泄口。</a:t>
            </a:r>
          </a:p>
          <a:p>
            <a:r>
              <a:rPr lang="zh-CN" altLang="en-US" dirty="0"/>
              <a:t>于是，这些情绪就像高压锅里的蒸汽，越积越多，却无处可逃。我们学会了微笑抑郁，学会了“我没事”，学会了把所有的不开心咽回肚子里。</a:t>
            </a:r>
          </a:p>
          <a:p>
            <a:r>
              <a:rPr lang="zh-CN" altLang="en-US" b="1" dirty="0"/>
              <a:t>结果就是：痛苦是真实的，但表达痛苦的渠道是缺失的。</a:t>
            </a:r>
            <a:endParaRPr lang="zh-CN" altLang="en-US" dirty="0"/>
          </a:p>
          <a:p>
            <a:br>
              <a:rPr lang="zh-CN" altLang="en-US" sz="1600" dirty="0"/>
            </a:br>
            <a:endParaRPr lang="en-US" sz="1600" b="0" i="0" u="none" strike="noStrike" dirty="0">
              <a:solidFill>
                <a:srgbClr val="646A7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2"/>
          <p:cNvSpPr/>
          <p:nvPr/>
        </p:nvSpPr>
        <p:spPr>
          <a:xfrm>
            <a:off x="6570328" y="4013137"/>
            <a:ext cx="5080000" cy="2413000"/>
          </a:xfrm>
          <a:prstGeom prst="roundRect">
            <a:avLst>
              <a:gd name="adj" fmla="val 6315"/>
            </a:avLst>
          </a:prstGeom>
          <a:solidFill>
            <a:srgbClr val="FDF2F0">
              <a:alpha val="100000"/>
            </a:srgbClr>
          </a:solidFill>
          <a:ln w="12700" cap="flat" cmpd="sng">
            <a:solidFill>
              <a:srgbClr val="E74C3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1800"/>
          </a:p>
        </p:txBody>
      </p:sp>
      <p:sp>
        <p:nvSpPr>
          <p:cNvPr id="19" name="AutoShape 14"/>
          <p:cNvSpPr/>
          <p:nvPr/>
        </p:nvSpPr>
        <p:spPr>
          <a:xfrm>
            <a:off x="6726339" y="4450484"/>
            <a:ext cx="4728238" cy="140408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解构与娱乐</a:t>
            </a:r>
            <a:endParaRPr lang="en-US" dirty="0"/>
          </a:p>
          <a:p>
            <a:r>
              <a:rPr lang="zh-CN" altLang="en-US" dirty="0"/>
              <a:t>“发疯文学”和表情包的出现，恰好填补了这个缺口。</a:t>
            </a:r>
          </a:p>
          <a:p>
            <a:r>
              <a:rPr lang="zh-CN" altLang="en-US" dirty="0"/>
              <a:t>它把沉重的、难以言说的痛苦，用一种</a:t>
            </a:r>
            <a:r>
              <a:rPr lang="zh-CN" altLang="en-US" b="1" dirty="0"/>
              <a:t>夸张、荒诞、自嘲</a:t>
            </a:r>
            <a:r>
              <a:rPr lang="zh-CN" altLang="en-US" dirty="0"/>
              <a:t>的方式重新包装</a:t>
            </a:r>
            <a:r>
              <a:rPr lang="en-US" altLang="zh-CN" dirty="0"/>
              <a:t>——</a:t>
            </a:r>
            <a:r>
              <a:rPr lang="zh-CN" altLang="en-US" dirty="0"/>
              <a:t>原本压得人喘不过气的事情，变成一个可以发出去、可以被点赞、可以被转发的梗。</a:t>
            </a:r>
          </a:p>
          <a:p>
            <a:r>
              <a:rPr lang="zh-CN" altLang="en-US" dirty="0"/>
              <a:t>这个过程，其实是一种</a:t>
            </a:r>
            <a:r>
              <a:rPr lang="zh-CN" altLang="en-US" b="1" dirty="0"/>
              <a:t>情绪的“无害化”释放</a:t>
            </a:r>
            <a:r>
              <a:rPr lang="zh-CN" altLang="en-US" dirty="0"/>
              <a:t>：</a:t>
            </a:r>
          </a:p>
          <a:p>
            <a:r>
              <a:rPr lang="zh-CN" altLang="en-US" dirty="0"/>
              <a:t>更重要的是，当无数人都在用类似的段子表达类似的痛苦时，个体的孤独感被稀释了</a:t>
            </a:r>
            <a:r>
              <a:rPr lang="en-US" altLang="zh-CN" dirty="0"/>
              <a:t>——“</a:t>
            </a:r>
            <a:r>
              <a:rPr lang="zh-CN" altLang="en-US" dirty="0"/>
              <a:t>原来你也这样”本身就是一种治愈。</a:t>
            </a:r>
          </a:p>
        </p:txBody>
      </p:sp>
      <p:sp>
        <p:nvSpPr>
          <p:cNvPr id="20" name="AutoShape 3">
            <a:extLst>
              <a:ext uri="{FF2B5EF4-FFF2-40B4-BE49-F238E27FC236}">
                <a16:creationId xmlns:a16="http://schemas.microsoft.com/office/drawing/2014/main" id="{D89719AF-AAE7-B7D8-FB75-D928B9CCD3F2}"/>
              </a:ext>
            </a:extLst>
          </p:cNvPr>
          <p:cNvSpPr/>
          <p:nvPr/>
        </p:nvSpPr>
        <p:spPr>
          <a:xfrm>
            <a:off x="666749" y="889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4">
            <a:extLst>
              <a:ext uri="{FF2B5EF4-FFF2-40B4-BE49-F238E27FC236}">
                <a16:creationId xmlns:a16="http://schemas.microsoft.com/office/drawing/2014/main" id="{59E63084-31E5-8CC8-4ADE-785B04F1832E}"/>
              </a:ext>
            </a:extLst>
          </p:cNvPr>
          <p:cNvSpPr/>
          <p:nvPr/>
        </p:nvSpPr>
        <p:spPr>
          <a:xfrm>
            <a:off x="920749" y="1075891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1C40F"/>
                </a:solidFill>
                <a:latin typeface="微软雅黑"/>
                <a:ea typeface="微软雅黑"/>
                <a:cs typeface="微软雅黑"/>
                <a:sym typeface="微软雅黑"/>
              </a:rPr>
              <a:t>01 / </a:t>
            </a:r>
            <a:r>
              <a:rPr lang="en-US" sz="2000" b="1" i="0" u="none" strike="noStrike" dirty="0" err="1">
                <a:solidFill>
                  <a:srgbClr val="F1C40F"/>
                </a:solidFill>
                <a:latin typeface="微软雅黑"/>
                <a:ea typeface="微软雅黑"/>
                <a:cs typeface="微软雅黑"/>
                <a:sym typeface="微软雅黑"/>
              </a:rPr>
              <a:t>现实</a:t>
            </a:r>
            <a:r>
              <a:rPr lang="en-US" sz="2000" b="1" i="0" u="none" strike="noStrike" dirty="0">
                <a:solidFill>
                  <a:srgbClr val="F1C40F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2000" b="1" dirty="0">
                <a:solidFill>
                  <a:srgbClr val="F1C40F"/>
                </a:solidFill>
                <a:latin typeface="微软雅黑"/>
                <a:ea typeface="微软雅黑"/>
                <a:cs typeface="微软雅黑"/>
                <a:sym typeface="微软雅黑"/>
              </a:rPr>
              <a:t>期末周崩溃</a:t>
            </a:r>
            <a:endParaRPr lang="en-US" sz="1100" dirty="0"/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A3232267-9FBB-5008-E65A-E73AFA87A1D8}"/>
              </a:ext>
            </a:extLst>
          </p:cNvPr>
          <p:cNvSpPr/>
          <p:nvPr/>
        </p:nvSpPr>
        <p:spPr>
          <a:xfrm>
            <a:off x="920749" y="1837891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16666"/>
              </a:lnSpc>
              <a:defRPr/>
            </a:pPr>
            <a:r>
              <a:rPr lang="zh-CN" altLang="en-US" sz="1600" dirty="0">
                <a:solidFill>
                  <a:schemeClr val="bg1"/>
                </a:solidFill>
              </a:rPr>
              <a:t>凌晨两点的宿舍书桌，只有你的台灯还亮着。面前是翻不完的</a:t>
            </a:r>
            <a:r>
              <a:rPr lang="en-US" altLang="zh-CN" sz="1600" dirty="0">
                <a:solidFill>
                  <a:schemeClr val="bg1"/>
                </a:solidFill>
              </a:rPr>
              <a:t>PPT</a:t>
            </a:r>
            <a:r>
              <a:rPr lang="zh-CN" altLang="en-US" sz="1600" dirty="0">
                <a:solidFill>
                  <a:schemeClr val="bg1"/>
                </a:solidFill>
              </a:rPr>
              <a:t>、背不完的重点、写不完的论文。咖啡喝到心悸，脑子已经转不动，但明天的考试还像一座大山压在胸口。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AutoShape 6">
            <a:extLst>
              <a:ext uri="{FF2B5EF4-FFF2-40B4-BE49-F238E27FC236}">
                <a16:creationId xmlns:a16="http://schemas.microsoft.com/office/drawing/2014/main" id="{90FF3128-32CD-0978-DC45-A78ABECD218E}"/>
              </a:ext>
            </a:extLst>
          </p:cNvPr>
          <p:cNvSpPr/>
          <p:nvPr/>
        </p:nvSpPr>
        <p:spPr>
          <a:xfrm>
            <a:off x="6570328" y="889000"/>
            <a:ext cx="5207000" cy="2413000"/>
          </a:xfrm>
          <a:prstGeom prst="roundRect">
            <a:avLst>
              <a:gd name="adj" fmla="val 6315"/>
            </a:avLst>
          </a:prstGeom>
          <a:solidFill>
            <a:srgbClr val="C0392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63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24" name="AutoShape 7">
            <a:extLst>
              <a:ext uri="{FF2B5EF4-FFF2-40B4-BE49-F238E27FC236}">
                <a16:creationId xmlns:a16="http://schemas.microsoft.com/office/drawing/2014/main" id="{F645B547-E9CB-CA10-0E03-2CEFCE6BED11}"/>
              </a:ext>
            </a:extLst>
          </p:cNvPr>
          <p:cNvSpPr/>
          <p:nvPr/>
        </p:nvSpPr>
        <p:spPr>
          <a:xfrm>
            <a:off x="6824328" y="1143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02 / </a:t>
            </a:r>
            <a:r>
              <a:rPr lang="en-US" sz="20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表达</a:t>
            </a:r>
            <a:r>
              <a:rPr lang="en-US" sz="20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：</a:t>
            </a:r>
            <a:r>
              <a:rPr lang="zh-CN" altLang="en-US" sz="2000" b="1" dirty="0">
                <a:solidFill>
                  <a:schemeClr val="bg1"/>
                </a:solidFill>
              </a:rPr>
              <a:t>“知识它不进脑子”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25" name="AutoShape 4" descr="搞笑的期末考试前专用表情包图片又来咯(2)_配图网">
            <a:extLst>
              <a:ext uri="{FF2B5EF4-FFF2-40B4-BE49-F238E27FC236}">
                <a16:creationId xmlns:a16="http://schemas.microsoft.com/office/drawing/2014/main" id="{7CE9C2A9-18BE-76C4-043D-237B82E459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48349" y="257449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BDBF086-AD00-C6E8-E394-179DB6066CF2}"/>
              </a:ext>
            </a:extLst>
          </p:cNvPr>
          <p:cNvSpPr txBox="1"/>
          <p:nvPr/>
        </p:nvSpPr>
        <p:spPr>
          <a:xfrm>
            <a:off x="6726339" y="1802073"/>
            <a:ext cx="41060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0" i="0" dirty="0">
                <a:solidFill>
                  <a:srgbClr val="F9FAFB"/>
                </a:solidFill>
                <a:effectLst/>
                <a:latin typeface="quote-cjk-patch"/>
              </a:rPr>
              <a:t>一张</a:t>
            </a:r>
            <a:r>
              <a:rPr lang="zh-CN" altLang="en-US" sz="1600" dirty="0">
                <a:solidFill>
                  <a:srgbClr val="F9FAFB"/>
                </a:solidFill>
                <a:latin typeface="quote-cjk-patch"/>
              </a:rPr>
              <a:t>夸张的文件放不进文件柜的图片</a:t>
            </a:r>
            <a:r>
              <a:rPr lang="zh-CN" altLang="en-US" sz="1600" b="0" i="0" dirty="0">
                <a:solidFill>
                  <a:srgbClr val="F9FAFB"/>
                </a:solidFill>
                <a:effectLst/>
                <a:latin typeface="quote-cjk-patch"/>
              </a:rPr>
              <a:t>，配上文字：</a:t>
            </a:r>
            <a:r>
              <a:rPr lang="zh-CN" altLang="en-US" sz="1600" b="1" i="0" dirty="0">
                <a:solidFill>
                  <a:srgbClr val="F9FAFB"/>
                </a:solidFill>
                <a:effectLst/>
                <a:latin typeface="quote-cjk-patch"/>
              </a:rPr>
              <a:t>“知识它不进脑子啊</a:t>
            </a:r>
            <a:r>
              <a:rPr lang="en-US" altLang="zh-CN" sz="1600" b="1" i="0" dirty="0">
                <a:solidFill>
                  <a:srgbClr val="F9FAFB"/>
                </a:solidFill>
                <a:effectLst/>
                <a:latin typeface="quote-cjk-patch"/>
              </a:rPr>
              <a:t>……</a:t>
            </a:r>
            <a:r>
              <a:rPr lang="zh-CN" altLang="en-US" sz="1600" b="1" i="0" dirty="0">
                <a:solidFill>
                  <a:srgbClr val="F9FAFB"/>
                </a:solidFill>
                <a:effectLst/>
                <a:latin typeface="quote-cjk-patch"/>
              </a:rPr>
              <a:t>（精神错乱版）”</a:t>
            </a:r>
            <a:r>
              <a:rPr lang="zh-CN" altLang="en-US" sz="1600" b="0" i="0" dirty="0">
                <a:solidFill>
                  <a:srgbClr val="F9FAFB"/>
                </a:solidFill>
                <a:effectLst/>
                <a:latin typeface="quote-cjk-patch"/>
              </a:rPr>
              <a:t> 或 </a:t>
            </a:r>
            <a:r>
              <a:rPr lang="zh-CN" altLang="en-US" sz="1600" b="1" i="0" dirty="0">
                <a:solidFill>
                  <a:srgbClr val="F9FAFB"/>
                </a:solidFill>
                <a:effectLst/>
                <a:latin typeface="quote-cjk-patch"/>
              </a:rPr>
              <a:t>“当我尝试用</a:t>
            </a:r>
            <a:r>
              <a:rPr lang="en-US" altLang="zh-CN" sz="1600" b="1" i="0" dirty="0">
                <a:solidFill>
                  <a:srgbClr val="F9FAFB"/>
                </a:solidFill>
                <a:effectLst/>
                <a:latin typeface="quote-cjk-patch"/>
              </a:rPr>
              <a:t>3</a:t>
            </a:r>
            <a:r>
              <a:rPr lang="zh-CN" altLang="en-US" sz="1600" b="1" i="0" dirty="0">
                <a:solidFill>
                  <a:srgbClr val="F9FAFB"/>
                </a:solidFill>
                <a:effectLst/>
                <a:latin typeface="quote-cjk-patch"/>
              </a:rPr>
              <a:t>天学完一学期的知识时，我的大脑选择了关机。”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40100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0699" y="1384663"/>
            <a:ext cx="11303001" cy="5041537"/>
          </a:xfrm>
          <a:prstGeom prst="roundRect">
            <a:avLst>
              <a:gd name="adj" fmla="val 10094"/>
            </a:avLst>
          </a:prstGeom>
          <a:solidFill>
            <a:srgbClr val="BD8B5D">
              <a:alpha val="100000"/>
            </a:srgbClr>
          </a:solidFill>
          <a:ln w="38100" cap="flat" cmpd="thickThin">
            <a:solidFill>
              <a:srgbClr val="BD8B5D">
                <a:alpha val="100000"/>
              </a:srgbClr>
            </a:solidFill>
            <a:prstDash val="lgDashDotDot"/>
            <a:miter lim="10000000"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60400" y="14351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01 / </a:t>
            </a:r>
            <a:r>
              <a:rPr lang="en-US" sz="22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定义</a:t>
            </a:r>
            <a:r>
              <a:rPr lang="en-US" sz="2200" b="1" i="0" u="none" strike="noStrike" dirty="0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 &amp; </a:t>
            </a:r>
            <a:r>
              <a:rPr lang="en-US" sz="2200" b="1" i="0" u="none" strike="noStrike" dirty="0" err="1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本质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1130662" y="2270760"/>
            <a:ext cx="9485086" cy="3685904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>
              <a:lnSpc>
                <a:spcPct val="108333"/>
              </a:lnSpc>
              <a:spcBef>
                <a:spcPct val="0"/>
              </a:spcBef>
              <a:spcAft>
                <a:spcPts val="1000"/>
              </a:spcAft>
              <a:defRPr/>
            </a:pPr>
            <a:r>
              <a:rPr lang="en-US" sz="2800" b="1" i="0" u="none" strike="noStrike" dirty="0">
                <a:solidFill>
                  <a:srgbClr val="FFE6C8"/>
                </a:solidFill>
                <a:latin typeface="微软雅黑"/>
                <a:ea typeface="微软雅黑"/>
                <a:cs typeface="微软雅黑"/>
                <a:sym typeface="微软雅黑"/>
              </a:rPr>
              <a:t>【</a:t>
            </a:r>
            <a:r>
              <a:rPr lang="en-US" sz="2800" b="1" i="0" u="none" strike="noStrike" dirty="0" err="1">
                <a:solidFill>
                  <a:srgbClr val="FFE6C8"/>
                </a:solidFill>
                <a:latin typeface="微软雅黑"/>
                <a:ea typeface="微软雅黑"/>
                <a:cs typeface="微软雅黑"/>
                <a:sym typeface="微软雅黑"/>
              </a:rPr>
              <a:t>定义</a:t>
            </a:r>
            <a:r>
              <a:rPr lang="en-US" sz="2800" b="1" i="0" u="none" strike="noStrike" dirty="0">
                <a:solidFill>
                  <a:srgbClr val="FFE6C8"/>
                </a:solidFill>
                <a:latin typeface="微软雅黑"/>
                <a:ea typeface="微软雅黑"/>
                <a:cs typeface="微软雅黑"/>
                <a:sym typeface="微软雅黑"/>
              </a:rPr>
              <a:t>】</a:t>
            </a:r>
            <a:r>
              <a:rPr lang="zh-CN" altLang="en-US" sz="2400" dirty="0">
                <a:solidFill>
                  <a:schemeClr val="bg1"/>
                </a:solidFill>
              </a:rPr>
              <a:t>苦难娱乐化，是指</a:t>
            </a:r>
            <a:r>
              <a:rPr lang="zh-CN" altLang="en-US" sz="2400" b="1" dirty="0">
                <a:solidFill>
                  <a:schemeClr val="bg1"/>
                </a:solidFill>
              </a:rPr>
              <a:t>我们</a:t>
            </a:r>
            <a:r>
              <a:rPr lang="zh-CN" altLang="en-US" sz="2400" dirty="0">
                <a:solidFill>
                  <a:schemeClr val="bg1"/>
                </a:solidFill>
              </a:rPr>
              <a:t>将在现实生活中遭遇的</a:t>
            </a:r>
            <a:r>
              <a:rPr lang="zh-CN" altLang="en-US" sz="2400" b="1" dirty="0">
                <a:solidFill>
                  <a:schemeClr val="bg1"/>
                </a:solidFill>
              </a:rPr>
              <a:t>挫折、焦虑、压力（比如期末崩溃、生活费告急、小组作业内耗）</a:t>
            </a:r>
            <a:r>
              <a:rPr lang="zh-CN" altLang="en-US" sz="2400" dirty="0">
                <a:solidFill>
                  <a:schemeClr val="bg1"/>
                </a:solidFill>
              </a:rPr>
              <a:t>，通过夸张、戏谑、自嘲的语言或符号（表情包、段子）进行重新包装和表达的文化现象。</a:t>
            </a:r>
            <a:endParaRPr lang="en-US" altLang="zh-CN" sz="2400" dirty="0">
              <a:solidFill>
                <a:schemeClr val="bg1"/>
              </a:solidFill>
            </a:endParaRPr>
          </a:p>
          <a:p>
            <a:pPr>
              <a:lnSpc>
                <a:spcPct val="108333"/>
              </a:lnSpc>
              <a:spcBef>
                <a:spcPct val="0"/>
              </a:spcBef>
              <a:spcAft>
                <a:spcPts val="1000"/>
              </a:spcAft>
              <a:defRPr/>
            </a:pPr>
            <a:r>
              <a:rPr lang="en-US" sz="2800" b="1" i="0" u="none" strike="noStrike" dirty="0">
                <a:solidFill>
                  <a:srgbClr val="FFE6C8"/>
                </a:solidFill>
                <a:latin typeface="微软雅黑"/>
                <a:ea typeface="微软雅黑"/>
                <a:cs typeface="微软雅黑"/>
                <a:sym typeface="微软雅黑"/>
              </a:rPr>
              <a:t>【</a:t>
            </a:r>
            <a:r>
              <a:rPr lang="en-US" sz="2800" b="1" i="0" u="none" strike="noStrike" dirty="0" err="1">
                <a:solidFill>
                  <a:srgbClr val="FFE6C8"/>
                </a:solidFill>
                <a:latin typeface="微软雅黑"/>
                <a:ea typeface="微软雅黑"/>
                <a:cs typeface="微软雅黑"/>
                <a:sym typeface="微软雅黑"/>
              </a:rPr>
              <a:t>本质</a:t>
            </a:r>
            <a:r>
              <a:rPr lang="en-US" sz="2800" b="1" i="0" u="none" strike="noStrike" dirty="0">
                <a:solidFill>
                  <a:srgbClr val="FFE6C8"/>
                </a:solidFill>
                <a:latin typeface="微软雅黑"/>
                <a:ea typeface="微软雅黑"/>
                <a:cs typeface="微软雅黑"/>
                <a:sym typeface="微软雅黑"/>
              </a:rPr>
              <a:t>】</a:t>
            </a:r>
            <a:r>
              <a:rPr lang="zh-CN" altLang="en-US" sz="2400" dirty="0">
                <a:solidFill>
                  <a:schemeClr val="bg1"/>
                </a:solidFill>
              </a:rPr>
              <a:t>它并非为了消除苦难本身，而是通过一种“降维打击”的方式，</a:t>
            </a:r>
            <a:r>
              <a:rPr lang="zh-CN" altLang="en-US" sz="2400" b="1" dirty="0">
                <a:solidFill>
                  <a:schemeClr val="bg1"/>
                </a:solidFill>
              </a:rPr>
              <a:t>改变我们与苦难的相处方式</a:t>
            </a:r>
            <a:r>
              <a:rPr lang="zh-CN" altLang="en-US" sz="2400" dirty="0">
                <a:solidFill>
                  <a:schemeClr val="bg1"/>
                </a:solidFill>
              </a:rPr>
              <a:t>。它将沉重的、难以言说的痛苦，转化为轻盈的、可供分享的笑料。就像给一个流血的伤口贴上印有笑脸的创可贴</a:t>
            </a:r>
            <a:r>
              <a:rPr lang="en-US" altLang="zh-CN" sz="2400" dirty="0">
                <a:solidFill>
                  <a:schemeClr val="bg1"/>
                </a:solidFill>
              </a:rPr>
              <a:t>——</a:t>
            </a:r>
            <a:r>
              <a:rPr lang="zh-CN" altLang="en-US" sz="2400" dirty="0">
                <a:solidFill>
                  <a:schemeClr val="bg1"/>
                </a:solidFill>
              </a:rPr>
              <a:t>伤口还在，但我们暂时获得了一种掌控感。</a:t>
            </a:r>
            <a:endParaRPr lang="en-US" sz="2000" b="0" i="0" u="none" strike="noStrike" dirty="0">
              <a:solidFill>
                <a:schemeClr val="bg1"/>
              </a:solidFill>
              <a:latin typeface="微软雅黑"/>
              <a:ea typeface="微软雅黑"/>
              <a:cs typeface="微软雅黑"/>
              <a:sym typeface="微软雅黑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368300" y="508000"/>
            <a:ext cx="1117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这就是“苦难娱乐化”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0700" y="1473200"/>
            <a:ext cx="5334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38100" cap="flat" cmpd="thickThin">
            <a:solidFill>
              <a:srgbClr val="BD8B5D">
                <a:alpha val="100000"/>
              </a:srgbClr>
            </a:solidFill>
            <a:prstDash val="lgDashDotDot"/>
            <a:miter lim="10000000"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3" name="AutoShape 3"/>
          <p:cNvSpPr/>
          <p:nvPr/>
        </p:nvSpPr>
        <p:spPr>
          <a:xfrm>
            <a:off x="678906" y="159512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BD8B5D"/>
                </a:solidFill>
                <a:latin typeface="微软雅黑"/>
                <a:ea typeface="微软雅黑"/>
                <a:cs typeface="微软雅黑"/>
                <a:sym typeface="微软雅黑"/>
              </a:rPr>
              <a:t>一面：它是解药</a:t>
            </a:r>
            <a:endParaRPr lang="en-US" sz="1600" dirty="0"/>
          </a:p>
        </p:txBody>
      </p:sp>
      <p:sp>
        <p:nvSpPr>
          <p:cNvPr id="4" name="AutoShape 4"/>
          <p:cNvSpPr/>
          <p:nvPr/>
        </p:nvSpPr>
        <p:spPr>
          <a:xfrm>
            <a:off x="678906" y="2289266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000" b="0" i="0" u="none" strike="noStrike" dirty="0">
                <a:solidFill>
                  <a:srgbClr val="525252"/>
                </a:solidFill>
                <a:latin typeface="微软雅黑"/>
                <a:ea typeface="微软雅黑"/>
                <a:cs typeface="微软雅黑"/>
                <a:sym typeface="微软雅黑"/>
              </a:rPr>
              <a:t>在高压的社会环境下，它为我们提供了一个低成本、高效率的情绪出口。它让我们在集体的自嘲中找到归属感，用幽默的方式进行着微小的反抗。</a:t>
            </a:r>
            <a:endParaRPr lang="en-US" sz="1600" dirty="0"/>
          </a:p>
        </p:txBody>
      </p:sp>
      <p:sp>
        <p:nvSpPr>
          <p:cNvPr id="5" name="AutoShape 5"/>
          <p:cNvSpPr/>
          <p:nvPr/>
        </p:nvSpPr>
        <p:spPr>
          <a:xfrm>
            <a:off x="6337300" y="1473200"/>
            <a:ext cx="5334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38100" cap="flat" cmpd="thickThin">
            <a:solidFill>
              <a:srgbClr val="646464">
                <a:alpha val="100000"/>
              </a:srgbClr>
            </a:solidFill>
            <a:prstDash val="lgDashDotDot"/>
            <a:miter lim="10000000"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6" name="AutoShape 6"/>
          <p:cNvSpPr/>
          <p:nvPr/>
        </p:nvSpPr>
        <p:spPr>
          <a:xfrm>
            <a:off x="6591300" y="159512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另一面：它可能是麻药</a:t>
            </a:r>
            <a:endParaRPr lang="en-US" sz="1600" dirty="0"/>
          </a:p>
        </p:txBody>
      </p:sp>
      <p:sp>
        <p:nvSpPr>
          <p:cNvPr id="7" name="AutoShape 7"/>
          <p:cNvSpPr/>
          <p:nvPr/>
        </p:nvSpPr>
        <p:spPr>
          <a:xfrm>
            <a:off x="6464300" y="2289266"/>
            <a:ext cx="508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2000" b="0" i="0" u="none" strike="noStrike" dirty="0" err="1">
                <a:solidFill>
                  <a:srgbClr val="525252"/>
                </a:solidFill>
                <a:latin typeface="微软雅黑"/>
                <a:ea typeface="微软雅黑"/>
                <a:cs typeface="微软雅黑"/>
                <a:sym typeface="微软雅黑"/>
              </a:rPr>
              <a:t>过度沉溺于这种娱乐化的表达，也可能让我们陷入更深的困境。它可能导致情绪的麻痹，让我们丧失深度思考的能力，甚至忘记了去反抗</a:t>
            </a:r>
            <a:r>
              <a:rPr lang="en-US" sz="2000" b="0" i="0" u="none" strike="noStrike" dirty="0">
                <a:solidFill>
                  <a:srgbClr val="525252"/>
                </a:solidFill>
                <a:latin typeface="微软雅黑"/>
                <a:ea typeface="微软雅黑"/>
                <a:cs typeface="微软雅黑"/>
                <a:sym typeface="微软雅黑"/>
              </a:rPr>
              <a:t>。</a:t>
            </a:r>
            <a:endParaRPr lang="en-US" sz="1600" dirty="0"/>
          </a:p>
        </p:txBody>
      </p:sp>
      <p:sp>
        <p:nvSpPr>
          <p:cNvPr id="8" name="AutoShape 8"/>
          <p:cNvSpPr/>
          <p:nvPr/>
        </p:nvSpPr>
        <p:spPr>
          <a:xfrm>
            <a:off x="520700" y="533400"/>
            <a:ext cx="11150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今天，我们聊聊这把双刃剑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960" y="4702266"/>
            <a:ext cx="12070080" cy="1651000"/>
          </a:xfrm>
          <a:prstGeom prst="roundRect">
            <a:avLst>
              <a:gd name="adj" fmla="val 9230"/>
            </a:avLst>
          </a:prstGeom>
          <a:solidFill>
            <a:srgbClr val="F9F7F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000"/>
          </a:p>
        </p:txBody>
      </p:sp>
      <p:sp>
        <p:nvSpPr>
          <p:cNvPr id="10" name="AutoShape 10"/>
          <p:cNvSpPr/>
          <p:nvPr/>
        </p:nvSpPr>
        <p:spPr>
          <a:xfrm>
            <a:off x="0" y="5070566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1" u="none" strike="noStrike" dirty="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“ 苦难娱乐化，就像一把锋利的双刃剑。一面是缓解痛苦的‘</a:t>
            </a:r>
            <a:r>
              <a:rPr lang="en-US" sz="2000" b="0" i="1" u="none" strike="noStrike" dirty="0" err="1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解药</a:t>
            </a:r>
            <a:r>
              <a:rPr lang="en-US" sz="2000" b="0" i="1" u="none" strike="noStrike" dirty="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’，</a:t>
            </a:r>
            <a:r>
              <a:rPr lang="en-US" sz="2000" b="0" i="1" u="none" strike="noStrike" dirty="0" err="1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另一面却是麻痹神经的‘麻药</a:t>
            </a:r>
            <a:r>
              <a:rPr lang="en-US" sz="2000" b="0" i="1" u="none" strike="noStrike" dirty="0">
                <a:solidFill>
                  <a:srgbClr val="5A5A5A"/>
                </a:solidFill>
                <a:latin typeface="微软雅黑"/>
                <a:ea typeface="微软雅黑"/>
                <a:cs typeface="微软雅黑"/>
                <a:sym typeface="微软雅黑"/>
              </a:rPr>
              <a:t>’。”</a:t>
            </a:r>
            <a:endParaRPr lang="en-US" dirty="0"/>
          </a:p>
          <a:p>
            <a:pPr indent="0" algn="ctr">
              <a:lnSpc>
                <a:spcPct val="125000"/>
              </a:lnSpc>
              <a:spcBef>
                <a:spcPts val="1200"/>
              </a:spcBef>
            </a:pPr>
            <a:r>
              <a:rPr lang="en-US" sz="1800" b="0" i="0" u="none" strike="noStrike" dirty="0">
                <a:solidFill>
                  <a:srgbClr val="969696"/>
                </a:solidFill>
                <a:latin typeface="微软雅黑"/>
                <a:ea typeface="微软雅黑"/>
                <a:cs typeface="微软雅黑"/>
                <a:sym typeface="微软雅黑"/>
              </a:rPr>
              <a:t>—— </a:t>
            </a:r>
            <a:r>
              <a:rPr lang="en-US" sz="1800" b="0" i="0" u="none" strike="noStrike" dirty="0" err="1">
                <a:solidFill>
                  <a:srgbClr val="969696"/>
                </a:solidFill>
                <a:latin typeface="微软雅黑"/>
                <a:ea typeface="微软雅黑"/>
                <a:cs typeface="微软雅黑"/>
                <a:sym typeface="微软雅黑"/>
              </a:rPr>
              <a:t>我们该如何在两者之间找到平衡</a:t>
            </a:r>
            <a:r>
              <a:rPr lang="en-US" sz="1800" b="0" i="0" u="none" strike="noStrike" dirty="0">
                <a:solidFill>
                  <a:srgbClr val="969696"/>
                </a:solidFill>
                <a:latin typeface="微软雅黑"/>
                <a:ea typeface="微软雅黑"/>
                <a:cs typeface="微软雅黑"/>
                <a:sym typeface="微软雅黑"/>
              </a:rPr>
              <a:t>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371600" y="1892300"/>
            <a:ext cx="4597400" cy="1193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t" anchorCtr="0"/>
          <a:lstStyle/>
          <a:p>
            <a:pPr indent="0" algn="dist">
              <a:lnSpc>
                <a:spcPct val="100000"/>
              </a:lnSpc>
              <a:defRPr/>
            </a:pPr>
            <a:r>
              <a:rPr lang="en-US" sz="7200" b="1" i="0" u="none" strike="noStrike" spc="400">
                <a:solidFill>
                  <a:srgbClr val="BD8B5D"/>
                </a:solidFill>
                <a:latin typeface="微软雅黑"/>
                <a:ea typeface="微软雅黑"/>
                <a:cs typeface="微软雅黑"/>
                <a:sym typeface="微软雅黑"/>
              </a:rPr>
              <a:t>PART01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71600" y="3098800"/>
            <a:ext cx="482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t" anchorCtr="0"/>
          <a:lstStyle/>
          <a:p>
            <a:pPr indent="0" algn="dist">
              <a:lnSpc>
                <a:spcPct val="100000"/>
              </a:lnSpc>
              <a:defRPr/>
            </a:pPr>
            <a:r>
              <a:rPr lang="en-US" sz="6000" b="1" i="0" u="none" strike="noStrike" spc="200">
                <a:solidFill>
                  <a:srgbClr val="BD8B5D"/>
                </a:solidFill>
                <a:latin typeface="微软雅黑"/>
                <a:ea typeface="微软雅黑"/>
                <a:cs typeface="微软雅黑"/>
                <a:sym typeface="微软雅黑"/>
              </a:rPr>
              <a:t>当“发疯”成为解药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41400" y="4699000"/>
            <a:ext cx="528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dist">
              <a:lnSpc>
                <a:spcPct val="100000"/>
              </a:lnSpc>
              <a:defRPr/>
            </a:pPr>
            <a:r>
              <a:rPr lang="en-US" sz="3000" b="1" i="1" u="none" strike="noStrike" spc="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Project Introduction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 t="2040" b="2040"/>
          <a:stretch>
            <a:fillRect/>
          </a:stretch>
        </p:blipFill>
        <p:spPr>
          <a:xfrm>
            <a:off x="6667500" y="1651000"/>
            <a:ext cx="4978400" cy="4775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673100" y="635000"/>
            <a:ext cx="762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先来讲第一部分课题介绍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" r="1"/>
          <a:stretch>
            <a:fillRect/>
          </a:stretch>
        </p:blipFill>
        <p:spPr>
          <a:xfrm>
            <a:off x="0" y="1727200"/>
            <a:ext cx="5168900" cy="5130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73100" y="533400"/>
            <a:ext cx="67056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情绪安全阀：给高压锅开个口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994400" y="1473200"/>
            <a:ext cx="2628900" cy="2311400"/>
          </a:xfrm>
          <a:prstGeom prst="roundRect">
            <a:avLst>
              <a:gd name="adj" fmla="val 11538"/>
            </a:avLst>
          </a:prstGeom>
          <a:solidFill>
            <a:srgbClr val="BD8B5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1270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994400" y="4038600"/>
            <a:ext cx="2628900" cy="2311400"/>
          </a:xfrm>
          <a:prstGeom prst="roundRect">
            <a:avLst>
              <a:gd name="adj" fmla="val 1153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1270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108700" y="1689100"/>
            <a:ext cx="228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社会规训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108700" y="24257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现代社会要求我们“情绪稳定”，压抑成为常态，形成“情绪高压锅”。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108700" y="4368800"/>
            <a:ext cx="228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低成本高效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21400" y="50673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相比心理咨询或现实争论，网上“发疯”成本几乎为零，效果显著。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26500" y="1473200"/>
            <a:ext cx="2628900" cy="2311400"/>
          </a:xfrm>
          <a:prstGeom prst="roundRect">
            <a:avLst>
              <a:gd name="adj" fmla="val 11538"/>
            </a:avLst>
          </a:prstGeom>
          <a:solidFill>
            <a:srgbClr val="BD8B5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1270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826500" y="4038600"/>
            <a:ext cx="2628900" cy="2311400"/>
          </a:xfrm>
          <a:prstGeom prst="roundRect">
            <a:avLst>
              <a:gd name="adj" fmla="val 1153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1270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953500" y="1689100"/>
            <a:ext cx="228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安全释放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953500" y="24257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网络匿名场域提供了完美的宣泄场所，可以安全释放攻击性与无力感。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953500" y="4368800"/>
            <a:ext cx="2286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核心观点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953500" y="50673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发疯文学是当代青年的情绪安全阀，为压力提供了低成本、高安全性的宣泄口。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17600" y="2679700"/>
            <a:ext cx="34417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微软雅黑"/>
                <a:ea typeface="微软雅黑"/>
                <a:cs typeface="微软雅黑"/>
                <a:sym typeface="微软雅黑"/>
              </a:rPr>
              <a:t>一个人痛苦是孤独，一群人分享痛苦，痛苦就被分摊了。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17600" y="2032000"/>
            <a:ext cx="3187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从个体到集体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117600" y="4699000"/>
            <a:ext cx="34417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微软雅黑"/>
                <a:ea typeface="微软雅黑"/>
                <a:cs typeface="微软雅黑"/>
                <a:sym typeface="微软雅黑"/>
              </a:rPr>
              <a:t>被理解和被接纳是治愈心理创伤的关键，集体共情本身就是治愈。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7600" y="4064000"/>
            <a:ext cx="3187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共情的治愈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480300" y="2679700"/>
            <a:ext cx="34417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微软雅黑"/>
                <a:ea typeface="微软雅黑"/>
                <a:cs typeface="微软雅黑"/>
                <a:sym typeface="微软雅黑"/>
              </a:rPr>
              <a:t>找到完美的“代言人”，让我们强烈感受到“我不是一个人”。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721600" y="2032000"/>
            <a:ext cx="3187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“嘴替”的力量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480300" y="4699000"/>
            <a:ext cx="34417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微软雅黑"/>
                <a:ea typeface="微软雅黑"/>
                <a:cs typeface="微软雅黑"/>
                <a:sym typeface="微软雅黑"/>
              </a:rPr>
              <a:t>苦难娱乐化构建了强大的共情场域，通过分享“痛苦笑话”，对抗个体孤独。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721600" y="4064000"/>
            <a:ext cx="3187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核心观点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96900" y="76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集体共情：原来你也在这里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87900" y="2794000"/>
            <a:ext cx="2717800" cy="2717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15000" y="850900"/>
            <a:ext cx="341206" cy="348442"/>
          </a:xfrm>
          <a:custGeom>
            <a:avLst/>
            <a:gdLst/>
            <a:ahLst/>
            <a:cxnLst/>
            <a:rect l="l" t="t" r="r" b="b"/>
            <a:pathLst>
              <a:path w="341206" h="348442">
                <a:moveTo>
                  <a:pt x="170311" y="0"/>
                </a:moveTo>
                <a:cubicBezTo>
                  <a:pt x="76407" y="0"/>
                  <a:pt x="0" y="78028"/>
                  <a:pt x="0" y="174518"/>
                </a:cubicBezTo>
                <a:cubicBezTo>
                  <a:pt x="0" y="270415"/>
                  <a:pt x="76407" y="348442"/>
                  <a:pt x="170311" y="348442"/>
                </a:cubicBezTo>
                <a:cubicBezTo>
                  <a:pt x="264799" y="348442"/>
                  <a:pt x="340623" y="270415"/>
                  <a:pt x="340623" y="174518"/>
                </a:cubicBezTo>
                <a:cubicBezTo>
                  <a:pt x="341206" y="78028"/>
                  <a:pt x="264799" y="0"/>
                  <a:pt x="170311" y="0"/>
                </a:cubicBezTo>
                <a:close/>
                <a:moveTo>
                  <a:pt x="235636" y="179283"/>
                </a:moveTo>
                <a:cubicBezTo>
                  <a:pt x="223388" y="192387"/>
                  <a:pt x="223388" y="192387"/>
                  <a:pt x="223388" y="192387"/>
                </a:cubicBezTo>
                <a:cubicBezTo>
                  <a:pt x="153397" y="263863"/>
                  <a:pt x="153397" y="263863"/>
                  <a:pt x="153397" y="263863"/>
                </a:cubicBezTo>
                <a:cubicBezTo>
                  <a:pt x="150481" y="266841"/>
                  <a:pt x="145815" y="266841"/>
                  <a:pt x="142898" y="263863"/>
                </a:cubicBezTo>
                <a:cubicBezTo>
                  <a:pt x="130650" y="251355"/>
                  <a:pt x="130650" y="251355"/>
                  <a:pt x="130650" y="251355"/>
                </a:cubicBezTo>
                <a:cubicBezTo>
                  <a:pt x="127734" y="248376"/>
                  <a:pt x="127734" y="243611"/>
                  <a:pt x="130650" y="240633"/>
                </a:cubicBezTo>
                <a:cubicBezTo>
                  <a:pt x="195392" y="174518"/>
                  <a:pt x="195392" y="174518"/>
                  <a:pt x="195392" y="174518"/>
                </a:cubicBezTo>
                <a:cubicBezTo>
                  <a:pt x="130650" y="107809"/>
                  <a:pt x="130650" y="107809"/>
                  <a:pt x="130650" y="107809"/>
                </a:cubicBezTo>
                <a:cubicBezTo>
                  <a:pt x="127734" y="104831"/>
                  <a:pt x="127734" y="100066"/>
                  <a:pt x="130650" y="97088"/>
                </a:cubicBezTo>
                <a:cubicBezTo>
                  <a:pt x="142898" y="84579"/>
                  <a:pt x="142898" y="84579"/>
                  <a:pt x="142898" y="84579"/>
                </a:cubicBezTo>
                <a:cubicBezTo>
                  <a:pt x="145815" y="81601"/>
                  <a:pt x="150481" y="81601"/>
                  <a:pt x="153397" y="84579"/>
                </a:cubicBezTo>
                <a:cubicBezTo>
                  <a:pt x="223388" y="156649"/>
                  <a:pt x="223388" y="156649"/>
                  <a:pt x="223388" y="156649"/>
                </a:cubicBezTo>
                <a:cubicBezTo>
                  <a:pt x="235636" y="169158"/>
                  <a:pt x="235636" y="169158"/>
                  <a:pt x="235636" y="169158"/>
                </a:cubicBezTo>
                <a:cubicBezTo>
                  <a:pt x="238553" y="172136"/>
                  <a:pt x="238553" y="176901"/>
                  <a:pt x="235636" y="179283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057900" y="1244600"/>
            <a:ext cx="4749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面对不合理的规则，直接对抗可能导致失业等严重后果。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57900" y="787400"/>
            <a:ext cx="35941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直接对抗成本高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715000" y="2362200"/>
            <a:ext cx="341206" cy="348442"/>
          </a:xfrm>
          <a:custGeom>
            <a:avLst/>
            <a:gdLst/>
            <a:ahLst/>
            <a:cxnLst/>
            <a:rect l="l" t="t" r="r" b="b"/>
            <a:pathLst>
              <a:path w="341206" h="348442">
                <a:moveTo>
                  <a:pt x="170311" y="0"/>
                </a:moveTo>
                <a:cubicBezTo>
                  <a:pt x="76407" y="0"/>
                  <a:pt x="0" y="78028"/>
                  <a:pt x="0" y="174518"/>
                </a:cubicBezTo>
                <a:cubicBezTo>
                  <a:pt x="0" y="270415"/>
                  <a:pt x="76407" y="348442"/>
                  <a:pt x="170311" y="348442"/>
                </a:cubicBezTo>
                <a:cubicBezTo>
                  <a:pt x="264799" y="348442"/>
                  <a:pt x="340623" y="270415"/>
                  <a:pt x="340623" y="174518"/>
                </a:cubicBezTo>
                <a:cubicBezTo>
                  <a:pt x="341206" y="78028"/>
                  <a:pt x="264799" y="0"/>
                  <a:pt x="170311" y="0"/>
                </a:cubicBezTo>
                <a:close/>
                <a:moveTo>
                  <a:pt x="235636" y="179283"/>
                </a:moveTo>
                <a:cubicBezTo>
                  <a:pt x="223388" y="192387"/>
                  <a:pt x="223388" y="192387"/>
                  <a:pt x="223388" y="192387"/>
                </a:cubicBezTo>
                <a:cubicBezTo>
                  <a:pt x="153397" y="263863"/>
                  <a:pt x="153397" y="263863"/>
                  <a:pt x="153397" y="263863"/>
                </a:cubicBezTo>
                <a:cubicBezTo>
                  <a:pt x="150481" y="266841"/>
                  <a:pt x="145815" y="266841"/>
                  <a:pt x="142898" y="263863"/>
                </a:cubicBezTo>
                <a:cubicBezTo>
                  <a:pt x="130650" y="251355"/>
                  <a:pt x="130650" y="251355"/>
                  <a:pt x="130650" y="251355"/>
                </a:cubicBezTo>
                <a:cubicBezTo>
                  <a:pt x="127734" y="248376"/>
                  <a:pt x="127734" y="243611"/>
                  <a:pt x="130650" y="240633"/>
                </a:cubicBezTo>
                <a:cubicBezTo>
                  <a:pt x="195392" y="174518"/>
                  <a:pt x="195392" y="174518"/>
                  <a:pt x="195392" y="174518"/>
                </a:cubicBezTo>
                <a:cubicBezTo>
                  <a:pt x="130650" y="107809"/>
                  <a:pt x="130650" y="107809"/>
                  <a:pt x="130650" y="107809"/>
                </a:cubicBezTo>
                <a:cubicBezTo>
                  <a:pt x="127734" y="104831"/>
                  <a:pt x="127734" y="100066"/>
                  <a:pt x="130650" y="97088"/>
                </a:cubicBezTo>
                <a:cubicBezTo>
                  <a:pt x="142898" y="84579"/>
                  <a:pt x="142898" y="84579"/>
                  <a:pt x="142898" y="84579"/>
                </a:cubicBezTo>
                <a:cubicBezTo>
                  <a:pt x="145815" y="81601"/>
                  <a:pt x="150481" y="81601"/>
                  <a:pt x="153397" y="84579"/>
                </a:cubicBezTo>
                <a:cubicBezTo>
                  <a:pt x="223388" y="156649"/>
                  <a:pt x="223388" y="156649"/>
                  <a:pt x="223388" y="156649"/>
                </a:cubicBezTo>
                <a:cubicBezTo>
                  <a:pt x="235636" y="169158"/>
                  <a:pt x="235636" y="169158"/>
                  <a:pt x="235636" y="169158"/>
                </a:cubicBezTo>
                <a:cubicBezTo>
                  <a:pt x="238553" y="172136"/>
                  <a:pt x="238553" y="176901"/>
                  <a:pt x="235636" y="179283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057900" y="2755900"/>
            <a:ext cx="4749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“已读乱回”、“发疯文学”是一种温和反抗，用魔法打败魔法。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57900" y="2311400"/>
            <a:ext cx="35941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用荒诞回应荒诞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5715000" y="3886200"/>
            <a:ext cx="341206" cy="348442"/>
          </a:xfrm>
          <a:custGeom>
            <a:avLst/>
            <a:gdLst/>
            <a:ahLst/>
            <a:cxnLst/>
            <a:rect l="l" t="t" r="r" b="b"/>
            <a:pathLst>
              <a:path w="341206" h="348442">
                <a:moveTo>
                  <a:pt x="170311" y="0"/>
                </a:moveTo>
                <a:cubicBezTo>
                  <a:pt x="76407" y="0"/>
                  <a:pt x="0" y="78028"/>
                  <a:pt x="0" y="174518"/>
                </a:cubicBezTo>
                <a:cubicBezTo>
                  <a:pt x="0" y="270415"/>
                  <a:pt x="76407" y="348442"/>
                  <a:pt x="170311" y="348442"/>
                </a:cubicBezTo>
                <a:cubicBezTo>
                  <a:pt x="264799" y="348442"/>
                  <a:pt x="340623" y="270415"/>
                  <a:pt x="340623" y="174518"/>
                </a:cubicBezTo>
                <a:cubicBezTo>
                  <a:pt x="341206" y="78028"/>
                  <a:pt x="264799" y="0"/>
                  <a:pt x="170311" y="0"/>
                </a:cubicBezTo>
                <a:close/>
                <a:moveTo>
                  <a:pt x="235636" y="179283"/>
                </a:moveTo>
                <a:cubicBezTo>
                  <a:pt x="223388" y="192387"/>
                  <a:pt x="223388" y="192387"/>
                  <a:pt x="223388" y="192387"/>
                </a:cubicBezTo>
                <a:cubicBezTo>
                  <a:pt x="153397" y="263863"/>
                  <a:pt x="153397" y="263863"/>
                  <a:pt x="153397" y="263863"/>
                </a:cubicBezTo>
                <a:cubicBezTo>
                  <a:pt x="150481" y="266841"/>
                  <a:pt x="145815" y="266841"/>
                  <a:pt x="142898" y="263863"/>
                </a:cubicBezTo>
                <a:cubicBezTo>
                  <a:pt x="130650" y="251355"/>
                  <a:pt x="130650" y="251355"/>
                  <a:pt x="130650" y="251355"/>
                </a:cubicBezTo>
                <a:cubicBezTo>
                  <a:pt x="127734" y="248376"/>
                  <a:pt x="127734" y="243611"/>
                  <a:pt x="130650" y="240633"/>
                </a:cubicBezTo>
                <a:cubicBezTo>
                  <a:pt x="195392" y="174518"/>
                  <a:pt x="195392" y="174518"/>
                  <a:pt x="195392" y="174518"/>
                </a:cubicBezTo>
                <a:cubicBezTo>
                  <a:pt x="130650" y="107809"/>
                  <a:pt x="130650" y="107809"/>
                  <a:pt x="130650" y="107809"/>
                </a:cubicBezTo>
                <a:cubicBezTo>
                  <a:pt x="127734" y="104831"/>
                  <a:pt x="127734" y="100066"/>
                  <a:pt x="130650" y="97088"/>
                </a:cubicBezTo>
                <a:cubicBezTo>
                  <a:pt x="142898" y="84579"/>
                  <a:pt x="142898" y="84579"/>
                  <a:pt x="142898" y="84579"/>
                </a:cubicBezTo>
                <a:cubicBezTo>
                  <a:pt x="145815" y="81601"/>
                  <a:pt x="150481" y="81601"/>
                  <a:pt x="153397" y="84579"/>
                </a:cubicBezTo>
                <a:cubicBezTo>
                  <a:pt x="223388" y="156649"/>
                  <a:pt x="223388" y="156649"/>
                  <a:pt x="223388" y="156649"/>
                </a:cubicBezTo>
                <a:cubicBezTo>
                  <a:pt x="235636" y="169158"/>
                  <a:pt x="235636" y="169158"/>
                  <a:pt x="235636" y="169158"/>
                </a:cubicBezTo>
                <a:cubicBezTo>
                  <a:pt x="238553" y="172136"/>
                  <a:pt x="238553" y="176901"/>
                  <a:pt x="235636" y="179283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057900" y="4267200"/>
            <a:ext cx="4749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在不引发冲突的前提下，表达不满和不屑，解构权威。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57900" y="3822700"/>
            <a:ext cx="35941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夺回微小话语权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5715000" y="5397500"/>
            <a:ext cx="341206" cy="348442"/>
          </a:xfrm>
          <a:custGeom>
            <a:avLst/>
            <a:gdLst/>
            <a:ahLst/>
            <a:cxnLst/>
            <a:rect l="l" t="t" r="r" b="b"/>
            <a:pathLst>
              <a:path w="341206" h="348442">
                <a:moveTo>
                  <a:pt x="170311" y="0"/>
                </a:moveTo>
                <a:cubicBezTo>
                  <a:pt x="76407" y="0"/>
                  <a:pt x="0" y="78028"/>
                  <a:pt x="0" y="174518"/>
                </a:cubicBezTo>
                <a:cubicBezTo>
                  <a:pt x="0" y="270415"/>
                  <a:pt x="76407" y="348442"/>
                  <a:pt x="170311" y="348442"/>
                </a:cubicBezTo>
                <a:cubicBezTo>
                  <a:pt x="264799" y="348442"/>
                  <a:pt x="340623" y="270415"/>
                  <a:pt x="340623" y="174518"/>
                </a:cubicBezTo>
                <a:cubicBezTo>
                  <a:pt x="341206" y="78028"/>
                  <a:pt x="264799" y="0"/>
                  <a:pt x="170311" y="0"/>
                </a:cubicBezTo>
                <a:close/>
                <a:moveTo>
                  <a:pt x="235636" y="179283"/>
                </a:moveTo>
                <a:cubicBezTo>
                  <a:pt x="223388" y="192387"/>
                  <a:pt x="223388" y="192387"/>
                  <a:pt x="223388" y="192387"/>
                </a:cubicBezTo>
                <a:cubicBezTo>
                  <a:pt x="153397" y="263863"/>
                  <a:pt x="153397" y="263863"/>
                  <a:pt x="153397" y="263863"/>
                </a:cubicBezTo>
                <a:cubicBezTo>
                  <a:pt x="150481" y="266841"/>
                  <a:pt x="145815" y="266841"/>
                  <a:pt x="142898" y="263863"/>
                </a:cubicBezTo>
                <a:cubicBezTo>
                  <a:pt x="130650" y="251355"/>
                  <a:pt x="130650" y="251355"/>
                  <a:pt x="130650" y="251355"/>
                </a:cubicBezTo>
                <a:cubicBezTo>
                  <a:pt x="127734" y="248376"/>
                  <a:pt x="127734" y="243611"/>
                  <a:pt x="130650" y="240633"/>
                </a:cubicBezTo>
                <a:cubicBezTo>
                  <a:pt x="195392" y="174518"/>
                  <a:pt x="195392" y="174518"/>
                  <a:pt x="195392" y="174518"/>
                </a:cubicBezTo>
                <a:cubicBezTo>
                  <a:pt x="130650" y="107809"/>
                  <a:pt x="130650" y="107809"/>
                  <a:pt x="130650" y="107809"/>
                </a:cubicBezTo>
                <a:cubicBezTo>
                  <a:pt x="127734" y="104831"/>
                  <a:pt x="127734" y="100066"/>
                  <a:pt x="130650" y="97088"/>
                </a:cubicBezTo>
                <a:cubicBezTo>
                  <a:pt x="142898" y="84579"/>
                  <a:pt x="142898" y="84579"/>
                  <a:pt x="142898" y="84579"/>
                </a:cubicBezTo>
                <a:cubicBezTo>
                  <a:pt x="145815" y="81601"/>
                  <a:pt x="150481" y="81601"/>
                  <a:pt x="153397" y="84579"/>
                </a:cubicBezTo>
                <a:cubicBezTo>
                  <a:pt x="223388" y="156649"/>
                  <a:pt x="223388" y="156649"/>
                  <a:pt x="223388" y="156649"/>
                </a:cubicBezTo>
                <a:cubicBezTo>
                  <a:pt x="235636" y="169158"/>
                  <a:pt x="235636" y="169158"/>
                  <a:pt x="235636" y="169158"/>
                </a:cubicBezTo>
                <a:cubicBezTo>
                  <a:pt x="238553" y="172136"/>
                  <a:pt x="238553" y="176901"/>
                  <a:pt x="235636" y="179283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057900" y="5791200"/>
            <a:ext cx="4749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幽默是一种弱者的武器，是对压力源的非暴力不配合。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57900" y="5334000"/>
            <a:ext cx="35941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核心观点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 t="2472" b="2472"/>
          <a:stretch>
            <a:fillRect/>
          </a:stretch>
        </p:blipFill>
        <p:spPr>
          <a:xfrm>
            <a:off x="0" y="1905000"/>
            <a:ext cx="4622800" cy="439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254000" y="381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微小反抗：</a:t>
            </a:r>
            <a:b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</a:b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用笑声解构权力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84200" y="1752600"/>
            <a:ext cx="51562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4000" b="1" i="0" u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从被动到主动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95300" y="2679700"/>
            <a:ext cx="6210300" cy="1651000"/>
          </a:xfrm>
          <a:prstGeom prst="roundRect">
            <a:avLst>
              <a:gd name="adj" fmla="val 9230"/>
            </a:avLst>
          </a:prstGeom>
          <a:solidFill>
            <a:srgbClr val="BD8B5D">
              <a:alpha val="100000"/>
            </a:srgbClr>
          </a:solidFill>
          <a:ln w="38100" cap="flat" cmpd="thickThin">
            <a:solidFill>
              <a:srgbClr val="000000">
                <a:alpha val="100000"/>
              </a:srgbClr>
            </a:solidFill>
            <a:prstDash val="lgDashDotDot"/>
            <a:miter lim="10000000"/>
          </a:ln>
          <a:effectLst>
            <a:outerShdw blurRad="381000" dist="1016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647700" y="2819400"/>
            <a:ext cx="571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角色认知的根本翻转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47700" y="3429000"/>
            <a:ext cx="584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过去：</a:t>
            </a:r>
            <a:r>
              <a:rPr lang="en-US" sz="1500" b="0" i="0" u="none" strike="noStrike">
                <a:solidFill>
                  <a:srgbClr val="F0F0F0"/>
                </a:solidFill>
                <a:latin typeface="微软雅黑"/>
                <a:ea typeface="微软雅黑"/>
                <a:cs typeface="微软雅黑"/>
                <a:sym typeface="微软雅黑"/>
              </a:rPr>
              <a:t>“我被生活逼疯了。”（被动承受，感觉自己是受害者）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现在：</a:t>
            </a:r>
            <a:r>
              <a:rPr lang="en-US" sz="1500" b="0" i="0" u="none" strike="noStrike">
                <a:solidFill>
                  <a:srgbClr val="F0F0F0"/>
                </a:solidFill>
                <a:latin typeface="微软雅黑"/>
                <a:ea typeface="微软雅黑"/>
                <a:cs typeface="微软雅黑"/>
                <a:sym typeface="微软雅黑"/>
              </a:rPr>
              <a:t>“我先疯为敬。”（主动宣告，夺回生活的主动权）</a:t>
            </a:r>
          </a:p>
        </p:txBody>
      </p:sp>
      <p:sp>
        <p:nvSpPr>
          <p:cNvPr id="6" name="AutoShape 6"/>
          <p:cNvSpPr/>
          <p:nvPr/>
        </p:nvSpPr>
        <p:spPr>
          <a:xfrm>
            <a:off x="4940300" y="4622800"/>
            <a:ext cx="6210300" cy="1651000"/>
          </a:xfrm>
          <a:prstGeom prst="roundRect">
            <a:avLst>
              <a:gd name="adj" fmla="val 9230"/>
            </a:avLst>
          </a:prstGeom>
          <a:solidFill>
            <a:srgbClr val="F3F4F6">
              <a:alpha val="100000"/>
            </a:srgbClr>
          </a:solidFill>
          <a:ln w="38100" cap="flat" cmpd="thickThin">
            <a:solidFill>
              <a:srgbClr val="000000">
                <a:alpha val="100000"/>
              </a:srgbClr>
            </a:solidFill>
            <a:prstDash val="lgDashDotDot"/>
            <a:miter lim="10000000"/>
          </a:ln>
          <a:effectLst>
            <a:outerShdw blurRad="381000" dist="101600" dir="54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92700" y="4762500"/>
            <a:ext cx="5715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心理防御机制的成熟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092700" y="5334000"/>
            <a:ext cx="584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微软雅黑"/>
                <a:ea typeface="微软雅黑"/>
                <a:cs typeface="微软雅黑"/>
                <a:sym typeface="微软雅黑"/>
              </a:rPr>
              <a:t>这是一种心理升华：将伤痛转化为创作的素材，重新定义“正常”。主动认领“疯”的标签，正是你重新掌控情绪定义权的标志。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" y="749300"/>
            <a:ext cx="660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主体性重塑：</a:t>
            </a:r>
            <a:r>
              <a:rPr lang="en-US" sz="3200" b="1" i="0" u="none" strike="noStrike">
                <a:solidFill>
                  <a:srgbClr val="BD8B5D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我先疯了，你随意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rcRect t="3125" b="3125"/>
          <a:stretch>
            <a:fillRect/>
          </a:stretch>
        </p:blipFill>
        <p:spPr>
          <a:xfrm>
            <a:off x="254000" y="4699000"/>
            <a:ext cx="2032000" cy="190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rcRect t="10344" b="10344"/>
          <a:stretch>
            <a:fillRect/>
          </a:stretch>
        </p:blipFill>
        <p:spPr>
          <a:xfrm>
            <a:off x="7874000" y="1397000"/>
            <a:ext cx="3683000" cy="2921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20700" y="2400300"/>
            <a:ext cx="5918200" cy="4025900"/>
          </a:xfrm>
          <a:prstGeom prst="roundRect">
            <a:avLst>
              <a:gd name="adj" fmla="val 10094"/>
            </a:avLst>
          </a:prstGeom>
          <a:solidFill>
            <a:srgbClr val="BD8B5D">
              <a:alpha val="100000"/>
            </a:srgbClr>
          </a:solidFill>
          <a:ln w="38100" cap="flat" cmpd="thickThin">
            <a:solidFill>
              <a:srgbClr val="BD8B5D">
                <a:alpha val="100000"/>
              </a:srgbClr>
            </a:solidFill>
            <a:prstDash val="lgDashDotDot"/>
            <a:miter lim="10000000"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60400" y="2552700"/>
            <a:ext cx="558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止痛药的隐喻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60400" y="3429000"/>
            <a:ext cx="5588000" cy="266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27000" tIns="101600" rIns="127000" bIns="10160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止痛药能有效缓解疼痛，让我们暂时感觉不到痛苦。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但是，如果我们对这种止痛的快感上了瘾，一次又一次地依赖它，却忘记了去寻找疼痛的根源，忘记了去治疗那个真正的病灶，会发生什么？</a:t>
            </a:r>
          </a:p>
          <a:p>
            <a:pPr indent="0" algn="l">
              <a:lnSpc>
                <a:spcPct val="133333"/>
              </a:lnSpc>
            </a:pPr>
            <a:r>
              <a:rPr lang="en-US" sz="15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我们的伤口，可能会在笑声中，悄悄地化脓、溃烂。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368300" y="317500"/>
            <a:ext cx="1117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但是，笑完之后呢？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10000" b="10000"/>
          <a:stretch>
            <a:fillRect/>
          </a:stretch>
        </p:blipFill>
        <p:spPr>
          <a:xfrm>
            <a:off x="6858000" y="1765300"/>
            <a:ext cx="5080000" cy="4064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3100" y="635000"/>
            <a:ext cx="54229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然后讲第二部分成员分工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71600" y="1892300"/>
            <a:ext cx="4597400" cy="1193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t" anchorCtr="0"/>
          <a:lstStyle/>
          <a:p>
            <a:pPr indent="0" algn="dist">
              <a:lnSpc>
                <a:spcPct val="100000"/>
              </a:lnSpc>
              <a:defRPr/>
            </a:pPr>
            <a:r>
              <a:rPr lang="en-US" sz="7200" b="1" i="0" u="none" strike="noStrike" spc="400">
                <a:solidFill>
                  <a:srgbClr val="BD8B5D"/>
                </a:solidFill>
                <a:latin typeface="微软雅黑"/>
                <a:ea typeface="微软雅黑"/>
                <a:cs typeface="微软雅黑"/>
                <a:sym typeface="微软雅黑"/>
              </a:rPr>
              <a:t>PART02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371600" y="3098800"/>
            <a:ext cx="4597400" cy="1193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vert="horz" wrap="square" lIns="88900" tIns="50800" rIns="88900" bIns="50800" rtlCol="0" anchor="t" anchorCtr="0"/>
          <a:lstStyle/>
          <a:p>
            <a:pPr indent="0" algn="dist">
              <a:lnSpc>
                <a:spcPct val="100000"/>
              </a:lnSpc>
              <a:defRPr/>
            </a:pPr>
            <a:r>
              <a:rPr lang="en-US" sz="7200" b="1" i="0" u="none" strike="noStrike" spc="400">
                <a:solidFill>
                  <a:srgbClr val="BD8B5D"/>
                </a:solidFill>
                <a:latin typeface="微软雅黑"/>
                <a:ea typeface="微软雅黑"/>
                <a:cs typeface="微软雅黑"/>
                <a:sym typeface="微软雅黑"/>
              </a:rPr>
              <a:t>当解药变成麻药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41400" y="4406900"/>
            <a:ext cx="52832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dist">
              <a:lnSpc>
                <a:spcPct val="100000"/>
              </a:lnSpc>
              <a:defRPr/>
            </a:pPr>
            <a:r>
              <a:rPr lang="en-US" sz="3000" b="1" i="1" u="none" strike="noStrike" spc="400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divide the work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rcRect t="2040" b="2040"/>
          <a:stretch>
            <a:fillRect/>
          </a:stretch>
        </p:blipFill>
        <p:spPr>
          <a:xfrm>
            <a:off x="6667500" y="2082800"/>
            <a:ext cx="4978400" cy="4775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715000" y="850900"/>
            <a:ext cx="341206" cy="348442"/>
          </a:xfrm>
          <a:custGeom>
            <a:avLst/>
            <a:gdLst/>
            <a:ahLst/>
            <a:cxnLst/>
            <a:rect l="l" t="t" r="r" b="b"/>
            <a:pathLst>
              <a:path w="341206" h="348442">
                <a:moveTo>
                  <a:pt x="170311" y="0"/>
                </a:moveTo>
                <a:cubicBezTo>
                  <a:pt x="76407" y="0"/>
                  <a:pt x="0" y="78028"/>
                  <a:pt x="0" y="174518"/>
                </a:cubicBezTo>
                <a:cubicBezTo>
                  <a:pt x="0" y="270415"/>
                  <a:pt x="76407" y="348442"/>
                  <a:pt x="170311" y="348442"/>
                </a:cubicBezTo>
                <a:cubicBezTo>
                  <a:pt x="264799" y="348442"/>
                  <a:pt x="340623" y="270415"/>
                  <a:pt x="340623" y="174518"/>
                </a:cubicBezTo>
                <a:cubicBezTo>
                  <a:pt x="341206" y="78028"/>
                  <a:pt x="264799" y="0"/>
                  <a:pt x="170311" y="0"/>
                </a:cubicBezTo>
                <a:close/>
                <a:moveTo>
                  <a:pt x="235636" y="179283"/>
                </a:moveTo>
                <a:cubicBezTo>
                  <a:pt x="223388" y="192387"/>
                  <a:pt x="223388" y="192387"/>
                  <a:pt x="223388" y="192387"/>
                </a:cubicBezTo>
                <a:cubicBezTo>
                  <a:pt x="153397" y="263863"/>
                  <a:pt x="153397" y="263863"/>
                  <a:pt x="153397" y="263863"/>
                </a:cubicBezTo>
                <a:cubicBezTo>
                  <a:pt x="150481" y="266841"/>
                  <a:pt x="145815" y="266841"/>
                  <a:pt x="142898" y="263863"/>
                </a:cubicBezTo>
                <a:cubicBezTo>
                  <a:pt x="130650" y="251355"/>
                  <a:pt x="130650" y="251355"/>
                  <a:pt x="130650" y="251355"/>
                </a:cubicBezTo>
                <a:cubicBezTo>
                  <a:pt x="127734" y="248376"/>
                  <a:pt x="127734" y="243611"/>
                  <a:pt x="130650" y="240633"/>
                </a:cubicBezTo>
                <a:cubicBezTo>
                  <a:pt x="195392" y="174518"/>
                  <a:pt x="195392" y="174518"/>
                  <a:pt x="195392" y="174518"/>
                </a:cubicBezTo>
                <a:cubicBezTo>
                  <a:pt x="130650" y="107809"/>
                  <a:pt x="130650" y="107809"/>
                  <a:pt x="130650" y="107809"/>
                </a:cubicBezTo>
                <a:cubicBezTo>
                  <a:pt x="127734" y="104831"/>
                  <a:pt x="127734" y="100066"/>
                  <a:pt x="130650" y="97088"/>
                </a:cubicBezTo>
                <a:cubicBezTo>
                  <a:pt x="142898" y="84579"/>
                  <a:pt x="142898" y="84579"/>
                  <a:pt x="142898" y="84579"/>
                </a:cubicBezTo>
                <a:cubicBezTo>
                  <a:pt x="145815" y="81601"/>
                  <a:pt x="150481" y="81601"/>
                  <a:pt x="153397" y="84579"/>
                </a:cubicBezTo>
                <a:cubicBezTo>
                  <a:pt x="223388" y="156649"/>
                  <a:pt x="223388" y="156649"/>
                  <a:pt x="223388" y="156649"/>
                </a:cubicBezTo>
                <a:cubicBezTo>
                  <a:pt x="235636" y="169158"/>
                  <a:pt x="235636" y="169158"/>
                  <a:pt x="235636" y="169158"/>
                </a:cubicBezTo>
                <a:cubicBezTo>
                  <a:pt x="238553" y="172136"/>
                  <a:pt x="238553" y="176901"/>
                  <a:pt x="235636" y="179283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6057900" y="1244600"/>
            <a:ext cx="4749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无论痛苦深浅，都用标准化的娱乐方式回应，简化了复杂情绪。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6057900" y="787400"/>
            <a:ext cx="35941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情绪扁平化</a:t>
            </a:r>
            <a:endParaRPr lang="en-US" sz="1100"/>
          </a:p>
        </p:txBody>
      </p:sp>
      <p:sp>
        <p:nvSpPr>
          <p:cNvPr id="5" name="Freeform 5"/>
          <p:cNvSpPr/>
          <p:nvPr/>
        </p:nvSpPr>
        <p:spPr>
          <a:xfrm>
            <a:off x="5715000" y="2362200"/>
            <a:ext cx="341206" cy="348442"/>
          </a:xfrm>
          <a:custGeom>
            <a:avLst/>
            <a:gdLst/>
            <a:ahLst/>
            <a:cxnLst/>
            <a:rect l="l" t="t" r="r" b="b"/>
            <a:pathLst>
              <a:path w="341206" h="348442">
                <a:moveTo>
                  <a:pt x="170311" y="0"/>
                </a:moveTo>
                <a:cubicBezTo>
                  <a:pt x="76407" y="0"/>
                  <a:pt x="0" y="78028"/>
                  <a:pt x="0" y="174518"/>
                </a:cubicBezTo>
                <a:cubicBezTo>
                  <a:pt x="0" y="270415"/>
                  <a:pt x="76407" y="348442"/>
                  <a:pt x="170311" y="348442"/>
                </a:cubicBezTo>
                <a:cubicBezTo>
                  <a:pt x="264799" y="348442"/>
                  <a:pt x="340623" y="270415"/>
                  <a:pt x="340623" y="174518"/>
                </a:cubicBezTo>
                <a:cubicBezTo>
                  <a:pt x="341206" y="78028"/>
                  <a:pt x="264799" y="0"/>
                  <a:pt x="170311" y="0"/>
                </a:cubicBezTo>
                <a:close/>
                <a:moveTo>
                  <a:pt x="235636" y="179283"/>
                </a:moveTo>
                <a:cubicBezTo>
                  <a:pt x="223388" y="192387"/>
                  <a:pt x="223388" y="192387"/>
                  <a:pt x="223388" y="192387"/>
                </a:cubicBezTo>
                <a:cubicBezTo>
                  <a:pt x="153397" y="263863"/>
                  <a:pt x="153397" y="263863"/>
                  <a:pt x="153397" y="263863"/>
                </a:cubicBezTo>
                <a:cubicBezTo>
                  <a:pt x="150481" y="266841"/>
                  <a:pt x="145815" y="266841"/>
                  <a:pt x="142898" y="263863"/>
                </a:cubicBezTo>
                <a:cubicBezTo>
                  <a:pt x="130650" y="251355"/>
                  <a:pt x="130650" y="251355"/>
                  <a:pt x="130650" y="251355"/>
                </a:cubicBezTo>
                <a:cubicBezTo>
                  <a:pt x="127734" y="248376"/>
                  <a:pt x="127734" y="243611"/>
                  <a:pt x="130650" y="240633"/>
                </a:cubicBezTo>
                <a:cubicBezTo>
                  <a:pt x="195392" y="174518"/>
                  <a:pt x="195392" y="174518"/>
                  <a:pt x="195392" y="174518"/>
                </a:cubicBezTo>
                <a:cubicBezTo>
                  <a:pt x="130650" y="107809"/>
                  <a:pt x="130650" y="107809"/>
                  <a:pt x="130650" y="107809"/>
                </a:cubicBezTo>
                <a:cubicBezTo>
                  <a:pt x="127734" y="104831"/>
                  <a:pt x="127734" y="100066"/>
                  <a:pt x="130650" y="97088"/>
                </a:cubicBezTo>
                <a:cubicBezTo>
                  <a:pt x="142898" y="84579"/>
                  <a:pt x="142898" y="84579"/>
                  <a:pt x="142898" y="84579"/>
                </a:cubicBezTo>
                <a:cubicBezTo>
                  <a:pt x="145815" y="81601"/>
                  <a:pt x="150481" y="81601"/>
                  <a:pt x="153397" y="84579"/>
                </a:cubicBezTo>
                <a:cubicBezTo>
                  <a:pt x="223388" y="156649"/>
                  <a:pt x="223388" y="156649"/>
                  <a:pt x="223388" y="156649"/>
                </a:cubicBezTo>
                <a:cubicBezTo>
                  <a:pt x="235636" y="169158"/>
                  <a:pt x="235636" y="169158"/>
                  <a:pt x="235636" y="169158"/>
                </a:cubicBezTo>
                <a:cubicBezTo>
                  <a:pt x="238553" y="172136"/>
                  <a:pt x="238553" y="176901"/>
                  <a:pt x="235636" y="179283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6057900" y="2755900"/>
            <a:ext cx="4749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一个表情包就能解决问题，我们便失去了探究根源的动力。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057900" y="2311400"/>
            <a:ext cx="35941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挤占思考空间</a:t>
            </a:r>
            <a:endParaRPr lang="en-US" sz="1100"/>
          </a:p>
        </p:txBody>
      </p:sp>
      <p:sp>
        <p:nvSpPr>
          <p:cNvPr id="8" name="Freeform 8"/>
          <p:cNvSpPr/>
          <p:nvPr/>
        </p:nvSpPr>
        <p:spPr>
          <a:xfrm>
            <a:off x="5715000" y="3886200"/>
            <a:ext cx="341206" cy="348442"/>
          </a:xfrm>
          <a:custGeom>
            <a:avLst/>
            <a:gdLst/>
            <a:ahLst/>
            <a:cxnLst/>
            <a:rect l="l" t="t" r="r" b="b"/>
            <a:pathLst>
              <a:path w="341206" h="348442">
                <a:moveTo>
                  <a:pt x="170311" y="0"/>
                </a:moveTo>
                <a:cubicBezTo>
                  <a:pt x="76407" y="0"/>
                  <a:pt x="0" y="78028"/>
                  <a:pt x="0" y="174518"/>
                </a:cubicBezTo>
                <a:cubicBezTo>
                  <a:pt x="0" y="270415"/>
                  <a:pt x="76407" y="348442"/>
                  <a:pt x="170311" y="348442"/>
                </a:cubicBezTo>
                <a:cubicBezTo>
                  <a:pt x="264799" y="348442"/>
                  <a:pt x="340623" y="270415"/>
                  <a:pt x="340623" y="174518"/>
                </a:cubicBezTo>
                <a:cubicBezTo>
                  <a:pt x="341206" y="78028"/>
                  <a:pt x="264799" y="0"/>
                  <a:pt x="170311" y="0"/>
                </a:cubicBezTo>
                <a:close/>
                <a:moveTo>
                  <a:pt x="235636" y="179283"/>
                </a:moveTo>
                <a:cubicBezTo>
                  <a:pt x="223388" y="192387"/>
                  <a:pt x="223388" y="192387"/>
                  <a:pt x="223388" y="192387"/>
                </a:cubicBezTo>
                <a:cubicBezTo>
                  <a:pt x="153397" y="263863"/>
                  <a:pt x="153397" y="263863"/>
                  <a:pt x="153397" y="263863"/>
                </a:cubicBezTo>
                <a:cubicBezTo>
                  <a:pt x="150481" y="266841"/>
                  <a:pt x="145815" y="266841"/>
                  <a:pt x="142898" y="263863"/>
                </a:cubicBezTo>
                <a:cubicBezTo>
                  <a:pt x="130650" y="251355"/>
                  <a:pt x="130650" y="251355"/>
                  <a:pt x="130650" y="251355"/>
                </a:cubicBezTo>
                <a:cubicBezTo>
                  <a:pt x="127734" y="248376"/>
                  <a:pt x="127734" y="243611"/>
                  <a:pt x="130650" y="240633"/>
                </a:cubicBezTo>
                <a:cubicBezTo>
                  <a:pt x="195392" y="174518"/>
                  <a:pt x="195392" y="174518"/>
                  <a:pt x="195392" y="174518"/>
                </a:cubicBezTo>
                <a:cubicBezTo>
                  <a:pt x="130650" y="107809"/>
                  <a:pt x="130650" y="107809"/>
                  <a:pt x="130650" y="107809"/>
                </a:cubicBezTo>
                <a:cubicBezTo>
                  <a:pt x="127734" y="104831"/>
                  <a:pt x="127734" y="100066"/>
                  <a:pt x="130650" y="97088"/>
                </a:cubicBezTo>
                <a:cubicBezTo>
                  <a:pt x="142898" y="84579"/>
                  <a:pt x="142898" y="84579"/>
                  <a:pt x="142898" y="84579"/>
                </a:cubicBezTo>
                <a:cubicBezTo>
                  <a:pt x="145815" y="81601"/>
                  <a:pt x="150481" y="81601"/>
                  <a:pt x="153397" y="84579"/>
                </a:cubicBezTo>
                <a:cubicBezTo>
                  <a:pt x="223388" y="156649"/>
                  <a:pt x="223388" y="156649"/>
                  <a:pt x="223388" y="156649"/>
                </a:cubicBezTo>
                <a:cubicBezTo>
                  <a:pt x="235636" y="169158"/>
                  <a:pt x="235636" y="169158"/>
                  <a:pt x="235636" y="169158"/>
                </a:cubicBezTo>
                <a:cubicBezTo>
                  <a:pt x="238553" y="172136"/>
                  <a:pt x="238553" y="176901"/>
                  <a:pt x="235636" y="179283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057900" y="4267200"/>
            <a:ext cx="4749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习惯了用段子回应，可能最终变得对苦难麻木，失去感知力。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57900" y="3822700"/>
            <a:ext cx="35941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从“笑对”到“无感”</a:t>
            </a:r>
            <a:endParaRPr lang="en-US" sz="1100"/>
          </a:p>
        </p:txBody>
      </p:sp>
      <p:sp>
        <p:nvSpPr>
          <p:cNvPr id="11" name="Freeform 11"/>
          <p:cNvSpPr/>
          <p:nvPr/>
        </p:nvSpPr>
        <p:spPr>
          <a:xfrm>
            <a:off x="5715000" y="5397500"/>
            <a:ext cx="341206" cy="348442"/>
          </a:xfrm>
          <a:custGeom>
            <a:avLst/>
            <a:gdLst/>
            <a:ahLst/>
            <a:cxnLst/>
            <a:rect l="l" t="t" r="r" b="b"/>
            <a:pathLst>
              <a:path w="341206" h="348442">
                <a:moveTo>
                  <a:pt x="170311" y="0"/>
                </a:moveTo>
                <a:cubicBezTo>
                  <a:pt x="76407" y="0"/>
                  <a:pt x="0" y="78028"/>
                  <a:pt x="0" y="174518"/>
                </a:cubicBezTo>
                <a:cubicBezTo>
                  <a:pt x="0" y="270415"/>
                  <a:pt x="76407" y="348442"/>
                  <a:pt x="170311" y="348442"/>
                </a:cubicBezTo>
                <a:cubicBezTo>
                  <a:pt x="264799" y="348442"/>
                  <a:pt x="340623" y="270415"/>
                  <a:pt x="340623" y="174518"/>
                </a:cubicBezTo>
                <a:cubicBezTo>
                  <a:pt x="341206" y="78028"/>
                  <a:pt x="264799" y="0"/>
                  <a:pt x="170311" y="0"/>
                </a:cubicBezTo>
                <a:close/>
                <a:moveTo>
                  <a:pt x="235636" y="179283"/>
                </a:moveTo>
                <a:cubicBezTo>
                  <a:pt x="223388" y="192387"/>
                  <a:pt x="223388" y="192387"/>
                  <a:pt x="223388" y="192387"/>
                </a:cubicBezTo>
                <a:cubicBezTo>
                  <a:pt x="153397" y="263863"/>
                  <a:pt x="153397" y="263863"/>
                  <a:pt x="153397" y="263863"/>
                </a:cubicBezTo>
                <a:cubicBezTo>
                  <a:pt x="150481" y="266841"/>
                  <a:pt x="145815" y="266841"/>
                  <a:pt x="142898" y="263863"/>
                </a:cubicBezTo>
                <a:cubicBezTo>
                  <a:pt x="130650" y="251355"/>
                  <a:pt x="130650" y="251355"/>
                  <a:pt x="130650" y="251355"/>
                </a:cubicBezTo>
                <a:cubicBezTo>
                  <a:pt x="127734" y="248376"/>
                  <a:pt x="127734" y="243611"/>
                  <a:pt x="130650" y="240633"/>
                </a:cubicBezTo>
                <a:cubicBezTo>
                  <a:pt x="195392" y="174518"/>
                  <a:pt x="195392" y="174518"/>
                  <a:pt x="195392" y="174518"/>
                </a:cubicBezTo>
                <a:cubicBezTo>
                  <a:pt x="130650" y="107809"/>
                  <a:pt x="130650" y="107809"/>
                  <a:pt x="130650" y="107809"/>
                </a:cubicBezTo>
                <a:cubicBezTo>
                  <a:pt x="127734" y="104831"/>
                  <a:pt x="127734" y="100066"/>
                  <a:pt x="130650" y="97088"/>
                </a:cubicBezTo>
                <a:cubicBezTo>
                  <a:pt x="142898" y="84579"/>
                  <a:pt x="142898" y="84579"/>
                  <a:pt x="142898" y="84579"/>
                </a:cubicBezTo>
                <a:cubicBezTo>
                  <a:pt x="145815" y="81601"/>
                  <a:pt x="150481" y="81601"/>
                  <a:pt x="153397" y="84579"/>
                </a:cubicBezTo>
                <a:cubicBezTo>
                  <a:pt x="223388" y="156649"/>
                  <a:pt x="223388" y="156649"/>
                  <a:pt x="223388" y="156649"/>
                </a:cubicBezTo>
                <a:cubicBezTo>
                  <a:pt x="235636" y="169158"/>
                  <a:pt x="235636" y="169158"/>
                  <a:pt x="235636" y="169158"/>
                </a:cubicBezTo>
                <a:cubicBezTo>
                  <a:pt x="238553" y="172136"/>
                  <a:pt x="238553" y="176901"/>
                  <a:pt x="235636" y="179283"/>
                </a:cubicBezTo>
                <a:close/>
              </a:path>
            </a:pathLst>
          </a:custGeom>
          <a:solidFill>
            <a:srgbClr val="00000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81000" dist="101600" dir="5400000" algn="t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057900" y="5791200"/>
            <a:ext cx="47498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微软雅黑"/>
                <a:ea typeface="微软雅黑"/>
                <a:cs typeface="微软雅黑"/>
                <a:sym typeface="微软雅黑"/>
              </a:rPr>
              <a:t>过度娱乐化会将所有情绪扁平化，最终导向危险的麻木状态。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057900" y="5334000"/>
            <a:ext cx="3594100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核心观点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rcRect t="2472" b="2472"/>
          <a:stretch>
            <a:fillRect/>
          </a:stretch>
        </p:blipFill>
        <p:spPr>
          <a:xfrm>
            <a:off x="0" y="1905000"/>
            <a:ext cx="4622800" cy="43942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5" name="AutoShape 15"/>
          <p:cNvSpPr/>
          <p:nvPr/>
        </p:nvSpPr>
        <p:spPr>
          <a:xfrm>
            <a:off x="381000" y="381000"/>
            <a:ext cx="46228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情绪麻痹：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6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从“消解”到“消解一切”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" r="1"/>
          <a:stretch>
            <a:fillRect/>
          </a:stretch>
        </p:blipFill>
        <p:spPr>
          <a:xfrm>
            <a:off x="0" y="1727200"/>
            <a:ext cx="5168900" cy="5130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673100" y="533400"/>
            <a:ext cx="1079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认同内化：发疯是止痛，不是治病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994400" y="1473200"/>
            <a:ext cx="2628900" cy="2311400"/>
          </a:xfrm>
          <a:prstGeom prst="roundRect">
            <a:avLst>
              <a:gd name="adj" fmla="val 11538"/>
            </a:avLst>
          </a:prstGeom>
          <a:solidFill>
            <a:srgbClr val="BD8B5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1270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159500" y="1727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恶性循环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134100" y="24130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被压榨 → 上网发疯 → 感觉好一点 → 继续被压榨。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994400" y="4038600"/>
            <a:ext cx="2628900" cy="2311400"/>
          </a:xfrm>
          <a:prstGeom prst="roundRect">
            <a:avLst>
              <a:gd name="adj" fmla="val 1153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1270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159500" y="4318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BD8B5D"/>
                </a:solidFill>
                <a:latin typeface="微软雅黑"/>
                <a:ea typeface="微软雅黑"/>
                <a:cs typeface="微软雅黑"/>
                <a:sym typeface="微软雅黑"/>
              </a:rPr>
              <a:t>从反抗到顺从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134100" y="50800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通过自我调侃，承认了“生活就是这样”，放弃了追问和改变。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826500" y="1473200"/>
            <a:ext cx="2628900" cy="2311400"/>
          </a:xfrm>
          <a:prstGeom prst="roundRect">
            <a:avLst>
              <a:gd name="adj" fmla="val 11538"/>
            </a:avLst>
          </a:prstGeom>
          <a:solidFill>
            <a:srgbClr val="BD8B5D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1270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991600" y="17272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宣泄成麻醉剂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966200" y="24130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“发疯”的快感让我们在痛苦中感到舒适，削弱了改变现状的动力。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826500" y="4038600"/>
            <a:ext cx="2628900" cy="2311400"/>
          </a:xfrm>
          <a:prstGeom prst="roundRect">
            <a:avLst>
              <a:gd name="adj" fmla="val 1153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127000" dir="5400000" algn="t" rotWithShape="0">
              <a:srgbClr val="000000">
                <a:alpha val="4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8991600" y="43180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BD8B5D"/>
                </a:solidFill>
                <a:latin typeface="微软雅黑"/>
                <a:ea typeface="微软雅黑"/>
                <a:cs typeface="微软雅黑"/>
                <a:sym typeface="微软雅黑"/>
              </a:rPr>
              <a:t>核心观点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966200" y="5080000"/>
            <a:ext cx="2349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63500" tIns="50800" rIns="63500" bIns="508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止步于宣泄，可能使人对不合理现实产生病态的接纳。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17600" y="21463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“被理解” ≠ “被解决”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117600" y="28575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44600" y="2984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共情是基础，但不是终点，一万个人分享痛苦也不能直接解决问题。情绪的共鸣无法替代现实问题的求解。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117600" y="44450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愤怒的溶解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117600" y="5080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244600" y="5207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过度娱乐化会溶解掉推动社会变革所需的宝贵愤怒和正义感，让严肃的议题在戏谑中失去了应有的重量。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0" y="21463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集体能量耗散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0" y="28575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7747000" y="29845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集体的能量被大量消耗在情绪宣泄和互相慰藉上，却没有转化为追问根源的动力，也没有流向实际的改变行动。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0" y="4445000"/>
            <a:ext cx="3302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91C1C"/>
                </a:solidFill>
                <a:latin typeface="微软雅黑"/>
                <a:ea typeface="微软雅黑"/>
                <a:cs typeface="微软雅黑"/>
                <a:sym typeface="微软雅黑"/>
              </a:rPr>
              <a:t>核心观点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0" y="5080000"/>
            <a:ext cx="3302000" cy="1397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747000" y="5207000"/>
            <a:ext cx="304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集体自嘲若替代了集体诉求，那么苦难就失去了被正视、被改变的最后可能。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96900" y="749300"/>
            <a:ext cx="10998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0" rIns="8890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1827"/>
                </a:solidFill>
                <a:latin typeface="微软雅黑"/>
                <a:ea typeface="微软雅黑"/>
                <a:cs typeface="微软雅黑"/>
                <a:sym typeface="微软雅黑"/>
              </a:rPr>
              <a:t>消解公共性：从“一起痛苦”到“一起认了”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96900" y="749300"/>
            <a:ext cx="10998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被收编的风险：你的痛苦，他的生意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84200" y="1905000"/>
            <a:ext cx="5334000" cy="2286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  <a:effectLst>
            <a:outerShdw blurRad="190500" dist="76200" dir="81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838200" y="2159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E40AF"/>
                </a:solidFill>
                <a:latin typeface="微软雅黑"/>
                <a:ea typeface="微软雅黑"/>
                <a:cs typeface="微软雅黑"/>
                <a:sym typeface="微软雅黑"/>
              </a:rPr>
              <a:t>品牌“发疯营销”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38200" y="2921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品牌模仿“发疯文学”进行营销，用年轻人熟悉的“发疯”姿态拉近距离，将你的反抗姿态巧妙转化为消费购买行为，消解反抗性。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273800" y="1905000"/>
            <a:ext cx="5334000" cy="2286000"/>
          </a:xfrm>
          <a:prstGeom prst="roundRect">
            <a:avLst>
              <a:gd name="adj" fmla="val 6666"/>
            </a:avLst>
          </a:prstGeom>
          <a:solidFill>
            <a:srgbClr val="FEF2F2">
              <a:alpha val="100000"/>
            </a:srgbClr>
          </a:solidFill>
          <a:ln w="25400" cap="flat" cmpd="sng">
            <a:solidFill>
              <a:srgbClr val="EF4444">
                <a:alpha val="100000"/>
              </a:srgbClr>
            </a:solidFill>
            <a:prstDash val="solid"/>
            <a:round/>
          </a:ln>
          <a:effectLst>
            <a:outerShdw blurRad="190500" dist="76200" dir="81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6527800" y="2159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B91C1C"/>
                </a:solidFill>
                <a:latin typeface="微软雅黑"/>
                <a:ea typeface="微软雅黑"/>
                <a:cs typeface="微软雅黑"/>
                <a:sym typeface="微软雅黑"/>
              </a:rPr>
              <a:t>平台流量闭环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527800" y="2921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平台利用算法构建“制造焦虑 - 提供解药”的闭环。你的真实痛苦与情绪宣泄，都被转化为平台收割流量、吸引注意力的养料。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4200" y="4445000"/>
            <a:ext cx="11023600" cy="1778000"/>
          </a:xfrm>
          <a:prstGeom prst="roundRect">
            <a:avLst>
              <a:gd name="adj" fmla="val 8571"/>
            </a:avLst>
          </a:prstGeom>
          <a:solidFill>
            <a:srgbClr val="1E293B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81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38200" y="4762500"/>
            <a:ext cx="10515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BBF24"/>
                </a:solidFill>
                <a:latin typeface="微软雅黑"/>
                <a:ea typeface="微软雅黑"/>
                <a:cs typeface="微软雅黑"/>
                <a:sym typeface="微软雅黑"/>
              </a:rPr>
              <a:t>💡 核心观点：</a:t>
            </a:r>
            <a:r>
              <a:rPr lang="en-US" sz="1800" b="0" i="0" u="none" strike="noStrike">
                <a:solidFill>
                  <a:srgbClr val="F1F5F9"/>
                </a:solidFill>
                <a:latin typeface="Noto Sans SC"/>
                <a:ea typeface="Noto Sans SC"/>
                <a:cs typeface="Noto Sans SC"/>
                <a:sym typeface="Noto Sans SC"/>
              </a:rPr>
              <a:t>资本与平台已将“发疯”彻底包装为一种标准化的商品，通过对青年情绪的二次消费，完成了从“共情”到“收割”的完美转身。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3100" y="533400"/>
            <a:ext cx="1079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微软雅黑"/>
                <a:ea typeface="微软雅黑"/>
                <a:cs typeface="微软雅黑"/>
                <a:sym typeface="微软雅黑"/>
              </a:rPr>
              <a:t>清醒地“疯”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20700" y="1778000"/>
            <a:ext cx="5397500" cy="2159000"/>
          </a:xfrm>
          <a:prstGeom prst="roundRect">
            <a:avLst>
              <a:gd name="adj" fmla="val 7058"/>
            </a:avLst>
          </a:prstGeom>
          <a:solidFill>
            <a:srgbClr val="FDFBF7">
              <a:alpha val="100000"/>
            </a:srgbClr>
          </a:solidFill>
          <a:ln w="25400" cap="flat" cmpd="sng">
            <a:solidFill>
              <a:srgbClr val="BD8B5D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74700" y="2032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BD8B5D"/>
                </a:solidFill>
                <a:latin typeface="微软雅黑"/>
                <a:ea typeface="微软雅黑"/>
                <a:cs typeface="微软雅黑"/>
                <a:sym typeface="微软雅黑"/>
              </a:rPr>
              <a:t>01 / 善用其“解药”功能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74700" y="2794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在需要时，大胆使用它来解压，享受共情和轻松，这是应得的心理按摩。不要因为“发疯”而感到内疚，这是合理的情绪宣泄。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20700" y="4191000"/>
            <a:ext cx="5397500" cy="2159000"/>
          </a:xfrm>
          <a:prstGeom prst="roundRect">
            <a:avLst>
              <a:gd name="adj" fmla="val 7058"/>
            </a:avLst>
          </a:prstGeom>
          <a:solidFill>
            <a:srgbClr val="F0F9FF">
              <a:alpha val="100000"/>
            </a:srgbClr>
          </a:solidFill>
          <a:ln w="25400" cap="flat" cmpd="sng">
            <a:solidFill>
              <a:srgbClr val="3B82F6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774700" y="44450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微软雅黑"/>
                <a:ea typeface="微软雅黑"/>
                <a:cs typeface="微软雅黑"/>
                <a:sym typeface="微软雅黑"/>
              </a:rPr>
              <a:t>02 / 保持一份清醒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74700" y="5207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要清楚地知道，笑声不是终点。“发疯”只是处理痛苦的第一步，它能止痛，但无法根除问题，最终仍要去探寻痛苦的根源。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334000" cy="4572000"/>
          </a:xfrm>
          <a:prstGeom prst="roundRect">
            <a:avLst>
              <a:gd name="adj" fmla="val 3333"/>
            </a:avLst>
          </a:prstGeom>
          <a:solidFill>
            <a:srgbClr val="FEF2F2">
              <a:alpha val="100000"/>
            </a:srgbClr>
          </a:solidFill>
          <a:ln w="25400" cap="flat" cmpd="sng">
            <a:solidFill>
              <a:srgbClr val="EF4444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286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DC2626"/>
                </a:solidFill>
                <a:latin typeface="微软雅黑"/>
                <a:ea typeface="微软雅黑"/>
                <a:cs typeface="微软雅黑"/>
                <a:sym typeface="微软雅黑"/>
              </a:rPr>
              <a:t>💡 核心总结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3302000"/>
            <a:ext cx="482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苦难娱乐化是真实有效的自我保护手段，但不可久用。</a:t>
            </a:r>
            <a:endParaRPr lang="en-US" sz="1100"/>
          </a:p>
          <a:p>
            <a:pPr indent="0" algn="ctr">
              <a:lnSpc>
                <a:spcPct val="150000"/>
              </a:lnSpc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让它成为我们应对生活的工具，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而不是唯一的工具。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t="1315" b="1315"/>
          <a:stretch>
            <a:fillRect/>
          </a:stretch>
        </p:blipFill>
        <p:spPr>
          <a:xfrm>
            <a:off x="-266700" y="2159000"/>
            <a:ext cx="4826000" cy="469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4368800" y="1485900"/>
            <a:ext cx="6845300" cy="1320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6400" b="1" i="0" u="none" strike="noStrike">
                <a:solidFill>
                  <a:srgbClr val="BD8B5D"/>
                </a:solidFill>
                <a:latin typeface="微软雅黑"/>
                <a:ea typeface="微软雅黑"/>
                <a:cs typeface="微软雅黑"/>
                <a:sym typeface="微软雅黑"/>
              </a:rPr>
              <a:t>愿我们有发疯的自由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4254500" y="2857500"/>
            <a:ext cx="8166100" cy="11049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5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也有不疯的能力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156200" y="4140200"/>
            <a:ext cx="2197100" cy="419100"/>
          </a:xfrm>
          <a:prstGeom prst="roundRect">
            <a:avLst>
              <a:gd name="adj" fmla="val 15151"/>
            </a:avLst>
          </a:prstGeom>
          <a:solidFill>
            <a:srgbClr val="BD8B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汇报团队：第二组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950200" y="4140200"/>
            <a:ext cx="2197100" cy="419100"/>
          </a:xfrm>
          <a:prstGeom prst="roundRect">
            <a:avLst>
              <a:gd name="adj" fmla="val 15151"/>
            </a:avLst>
          </a:prstGeom>
          <a:solidFill>
            <a:srgbClr val="BD8B5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微软雅黑"/>
                <a:ea typeface="微软雅黑"/>
                <a:cs typeface="微软雅黑"/>
                <a:sym typeface="微软雅黑"/>
              </a:rPr>
              <a:t>汇报时间：</a:t>
            </a:r>
            <a:r>
              <a:rPr lang="en-US" sz="1800" b="1" i="0" u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t="4450" b="4450"/>
          <a:stretch>
            <a:fillRect/>
          </a:stretch>
        </p:blipFill>
        <p:spPr>
          <a:xfrm>
            <a:off x="3606800" y="4813300"/>
            <a:ext cx="2425700" cy="2209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t="3591" b="3591"/>
          <a:stretch>
            <a:fillRect/>
          </a:stretch>
        </p:blipFill>
        <p:spPr>
          <a:xfrm>
            <a:off x="5765800" y="4889500"/>
            <a:ext cx="2298700" cy="2133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rcRect t="2542" b="2542"/>
          <a:stretch>
            <a:fillRect/>
          </a:stretch>
        </p:blipFill>
        <p:spPr>
          <a:xfrm>
            <a:off x="7810500" y="4889500"/>
            <a:ext cx="2247900" cy="2133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rcRect t="2808" b="2808"/>
          <a:stretch>
            <a:fillRect/>
          </a:stretch>
        </p:blipFill>
        <p:spPr>
          <a:xfrm>
            <a:off x="9842500" y="4889500"/>
            <a:ext cx="2260600" cy="2133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584200" y="596900"/>
            <a:ext cx="7937500" cy="647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88900" tIns="50800" rIns="88900" bIns="50800" rtlCol="0" anchor="t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3600" b="1" i="0" u="none" strike="noStrike">
                <a:solidFill>
                  <a:srgbClr val="000000"/>
                </a:solidFill>
                <a:latin typeface="微软雅黑"/>
                <a:ea typeface="微软雅黑"/>
                <a:cs typeface="微软雅黑"/>
                <a:sym typeface="微软雅黑"/>
              </a:rPr>
              <a:t>快给我们小组鼓鼓掌！！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3105</Words>
  <Application>Microsoft Office PowerPoint</Application>
  <PresentationFormat>宽屏</PresentationFormat>
  <Paragraphs>259</Paragraphs>
  <Slides>19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Noto Sans SC</vt:lpstr>
      <vt:lpstr>quote-cjk-patch</vt:lpstr>
      <vt:lpstr>可爱版显眼包来噜</vt:lpstr>
      <vt:lpstr>微软雅黑</vt:lpstr>
      <vt:lpstr>Arial</vt:lpstr>
      <vt:lpstr>Century Gothic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贵骋 朱</cp:lastModifiedBy>
  <cp:revision>3</cp:revision>
  <dcterms:modified xsi:type="dcterms:W3CDTF">2026-05-26T15:19:21Z</dcterms:modified>
</cp:coreProperties>
</file>